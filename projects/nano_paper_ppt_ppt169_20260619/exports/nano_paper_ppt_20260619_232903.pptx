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da278ceb6c9cdd6.jpg"/>
  <Relationship Id="rId3" Type="http://schemas.openxmlformats.org/officeDocument/2006/relationships/image" Target="../media/image_d91ec6ec028c5bf6.jp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80a434e9f495bea.png"/>
  <Relationship Id="rId3" Type="http://schemas.openxmlformats.org/officeDocument/2006/relationships/image" Target="../media/image_2e380a49f441f8fd.jpg"/>
  <Relationship Id="rId4" Type="http://schemas.openxmlformats.org/officeDocument/2006/relationships/image" Target="../media/image_0c91f9df9b8c8e43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e68c1e93c60c5fb.jpg"/>
  <Relationship Id="rId3" Type="http://schemas.openxmlformats.org/officeDocument/2006/relationships/image" Target="../media/image_8e115f0a15604b17.jpg"/>
  <Relationship Id="rId4" Type="http://schemas.openxmlformats.org/officeDocument/2006/relationships/image" Target="../media/image_486465de6be803cb.pn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543" y="333375"/>
            <a:ext cx="1534914" cy="619125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98" y="476250"/>
            <a:ext cx="852055" cy="7810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1905000" y="1714500"/>
            <a:ext cx="28575" cy="3238500"/>
          </a:xfrm>
          <a:prstGeom prst="roundRect">
            <a:avLst>
              <a:gd name="adj" fmla="val 33333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268855" y="2140268"/>
            <a:ext cx="20415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天津大学 · 机械工程学院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45995" y="2707958"/>
            <a:ext cx="493161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纳米技术及纳米机器人的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45995" y="3327082"/>
            <a:ext cx="228528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应用和现状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286000" y="4000500"/>
            <a:ext cx="1524000" cy="2857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270760" y="4442460"/>
            <a:ext cx="25027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汪翔天 · 黄子烨 · 钟乐昕 · 马锦龙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2665" y="4839652"/>
            <a:ext cx="25679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智能制造工程 · 机械设计制造及其自动化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72665" y="5125402"/>
            <a:ext cx="4747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7788"/>
                </a:solidFill>
                <a:latin typeface="Microsoft YaHei"/>
                <a:ea typeface="Microsoft YaHei"/>
                <a:cs typeface="Microsoft YaHei"/>
              </a:rPr>
              <a:t>2025级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3425" y="423862"/>
            <a:ext cx="78174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目 录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8572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1143000"/>
            <a:ext cx="10668000" cy="85725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11580" y="14401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A5E9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Rectangle 8"/>
          <p:cNvSpPr/>
          <p:nvPr/>
        </p:nvSpPr>
        <p:spPr>
          <a:xfrm>
            <a:off x="1905000" y="1476375"/>
            <a:ext cx="28575" cy="23812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124075" y="1533525"/>
            <a:ext cx="12982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第一章：绪论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2143125"/>
            <a:ext cx="10668000" cy="85725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11580" y="2440305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A5E9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0" y="2476500"/>
            <a:ext cx="28575" cy="23812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24075" y="2533650"/>
            <a:ext cx="406010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第二章：研究背景 — 发展历程与国内外现状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3143250"/>
            <a:ext cx="10668000" cy="85725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11580" y="344043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A5E9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905000" y="3476625"/>
            <a:ext cx="28575" cy="23812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124075" y="3533775"/>
            <a:ext cx="4238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第三章：微纳操作和微纳米机器人的应用现状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143375"/>
            <a:ext cx="10668000" cy="85725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211580" y="4440555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A5E9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905000" y="4476750"/>
            <a:ext cx="28575" cy="23812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124075" y="4533900"/>
            <a:ext cx="25584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第四章：目前所面临的问题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5143500"/>
            <a:ext cx="10668000" cy="85725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211580" y="5440680"/>
            <a:ext cx="3767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A5E9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905000" y="5476875"/>
            <a:ext cx="28575" cy="23812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124075" y="5534025"/>
            <a:ext cx="23483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第五章：展望与思考总结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590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Rectangle 27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67750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摘 要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857250"/>
            <a:ext cx="5143500" cy="5524500"/>
          </a:xfrm>
          <a:prstGeom prst="roundRect">
            <a:avLst>
              <a:gd name="adj" fmla="val 1111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857250"/>
            <a:ext cx="57150" cy="55245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32510" y="10610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中文摘要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6320" y="1426845"/>
            <a:ext cx="2543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微纳尺度技术是精密工程、机器人学与材料科学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6320" y="166497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交叉形成的前沿学科。本文以纳米技术与纳米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6320" y="190309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机器人为研究对象，首先梳理三大发展阶段，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6320" y="214122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系统对比国内外在精密加工、柔顺机构、纳米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6320" y="237934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材料方向的研究优势与不足。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6320" y="276034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其次分别阐述机械微纳加工、柔性精密驱动、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6320" y="299847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纳米材料改性三大场景的应用现状，剖析仿真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6320" y="323659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建模、装备开发、试验验证全链条技术短板。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6320" y="3617595"/>
            <a:ext cx="2303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随后从复合材料、半导体制造、纳米涂层、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385572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纺织、刀具、生物医疗六大领域，归纳产业化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320" y="40938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落地共性难题与三大行业痛点。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6320" y="4474845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最后对精准医疗、清洁能源、信息芯片、脑机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6320" y="4712970"/>
            <a:ext cx="2303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接口等方向进行展望，辩证分析潜在风险，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" y="4951095"/>
            <a:ext cx="2303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提出同步完善毒理研究、建立全球监管规范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320" y="51892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的发展思路。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6320" y="5713095"/>
            <a:ext cx="25431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关键词：纳米技术；微纳米机器人；柔性驱动；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6320" y="5951220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纳米材料；精密制造；生物医疗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857250"/>
            <a:ext cx="5143500" cy="5524500"/>
          </a:xfrm>
          <a:prstGeom prst="roundRect">
            <a:avLst>
              <a:gd name="adj" fmla="val 1111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286500" y="857250"/>
            <a:ext cx="57150" cy="5524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557010" y="1061085"/>
            <a:ext cx="7697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Abstract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61772" y="1434941"/>
            <a:ext cx="23532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As an interdisciplinary frontier integrating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61772" y="1644491"/>
            <a:ext cx="24632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precision engineering, robotics and materials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61772" y="1854041"/>
            <a:ext cx="23312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science, this paper systematically reviews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61772" y="2063591"/>
            <a:ext cx="24247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nanotechnology and nanorobots across three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61772" y="2273141"/>
            <a:ext cx="24357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development stages, comparing domestic and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61772" y="2482691"/>
            <a:ext cx="2496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international research in precision machining,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61772" y="2692241"/>
            <a:ext cx="23092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compliant mechanisms, and nanomaterials.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61772" y="3054191"/>
            <a:ext cx="24687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It elaborates application status in mechanical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61772" y="3263741"/>
            <a:ext cx="24852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micro-nano machining, flexible actuation, and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61772" y="3473291"/>
            <a:ext cx="25182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nanomaterial modification, analyzing technical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61772" y="3682841"/>
            <a:ext cx="23532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shortcomings in simulation, equipment, and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61772" y="3892391"/>
            <a:ext cx="14511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experimental verification.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61772" y="4254341"/>
            <a:ext cx="24742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Furthermore, it summarizes industrialization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61772" y="4463891"/>
            <a:ext cx="22652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challenges across six fields and identifies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61772" y="4673441"/>
            <a:ext cx="20782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three universal industrial pain points.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61772" y="5035391"/>
            <a:ext cx="21607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Finally, prospects for breakthroughs in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61772" y="5244941"/>
            <a:ext cx="23367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precision medicine, clean energy, next-gen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61772" y="5454491"/>
            <a:ext cx="25897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CCD6E0"/>
                </a:solidFill>
                <a:latin typeface="Arial"/>
                <a:ea typeface="Microsoft YaHei"/>
                <a:cs typeface="Arial"/>
              </a:rPr>
              <a:t>chips, and BCI are presented with risk analysis.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61772" y="5911691"/>
            <a:ext cx="25567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Keywords: Nanotechnology; Micro-nanorobots;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561772" y="6121241"/>
            <a:ext cx="24577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Flexible Actuation; Nanomaterials; Biomedical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3590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0" name="Rectangle 5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47750" y="3000375"/>
            <a:ext cx="1345644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0" b="1" dirty="0">
                <a:solidFill>
                  <a:srgbClr val="22D3EE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040" y="3482340"/>
            <a:ext cx="86121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Rectangle 6"/>
          <p:cNvSpPr/>
          <p:nvPr/>
        </p:nvSpPr>
        <p:spPr>
          <a:xfrm>
            <a:off x="3238500" y="2667000"/>
            <a:ext cx="28575" cy="1714500"/>
          </a:xfrm>
          <a:prstGeom prst="roundRect">
            <a:avLst>
              <a:gd name="adj" fmla="val 33333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678555" y="3121342"/>
            <a:ext cx="12695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第一章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88080" y="3773805"/>
            <a:ext cx="401583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C8DB0"/>
                </a:solidFill>
                <a:latin typeface="Microsoft YaHei"/>
                <a:ea typeface="Microsoft YaHei"/>
                <a:cs typeface="Microsoft YaHei"/>
              </a:rPr>
              <a:t>绪论 — 三大技术体系与研究框架</a:t>
            </a:r>
          </a:p>
        </p:txBody>
      </p:sp>
      <p:sp>
        <p:nvSpPr>
          <p:cNvPr id="9" name="Rectangle 9"/>
          <p:cNvSpPr/>
          <p:nvPr/>
        </p:nvSpPr>
        <p:spPr>
          <a:xfrm>
            <a:off x="1143000" y="5143500"/>
            <a:ext cx="5715000" cy="1905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359897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三大核心技术体系与研究目标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52500"/>
            <a:ext cx="3333750" cy="2667000"/>
          </a:xfrm>
          <a:prstGeom prst="roundRect">
            <a:avLst>
              <a:gd name="adj" fmla="val 2143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52500"/>
            <a:ext cx="333375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844659" y="12353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精密机械制造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5368" y="165687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飞秒激光微纳加工、微注塑成型、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5368" y="189499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电化学刻蚀、高精度光刻等工艺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5368" y="21807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实现微米级结构轮廓精度与纳米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5368" y="241887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级表面粗糙度控制，多尺度一体化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5368" y="26569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集成制造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47750" y="3048000"/>
            <a:ext cx="28575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36320" y="3236595"/>
            <a:ext cx="1565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 决定结构精度与作业可靠性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429125" y="952500"/>
            <a:ext cx="3333750" cy="2667000"/>
          </a:xfrm>
          <a:prstGeom prst="roundRect">
            <a:avLst>
              <a:gd name="adj" fmla="val 2143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429125" y="952500"/>
            <a:ext cx="3333750" cy="4762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228249" y="1235392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柔性机构与精密驱动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02492" y="165687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柔性机构依靠材料弹性变形实现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02492" y="189499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运动与力控，无传动间隙和摩擦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2492" y="21807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磨损；压电驱动为主流，磁/光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2492" y="2418874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驱动适配生物微环境无损伤作业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714875" y="3048000"/>
            <a:ext cx="28575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703445" y="3236595"/>
            <a:ext cx="1445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 实现高精度、自适应作业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096250" y="952500"/>
            <a:ext cx="3333750" cy="2667000"/>
          </a:xfrm>
          <a:prstGeom prst="roundRect">
            <a:avLst>
              <a:gd name="adj" fmla="val 2143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096250" y="952500"/>
            <a:ext cx="333375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178909" y="12353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功能纳米材料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9618" y="1656874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石墨烯、碳纳米管、智能水凝胶、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9618" y="189499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介电弹性体等，实现驱动、感知、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9618" y="21807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操作一体化，纳米复合材料提升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9618" y="2418874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抗疲劳性，涂层优化表面特性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382000" y="3048000"/>
            <a:ext cx="28575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70570" y="3236595"/>
            <a:ext cx="1685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 性能突破与功能拓展关键载体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4000500"/>
            <a:ext cx="10668000" cy="1143000"/>
          </a:xfrm>
          <a:prstGeom prst="roundRect">
            <a:avLst>
              <a:gd name="adj" fmla="val 5000"/>
            </a:avLst>
          </a:prstGeom>
          <a:solidFill>
            <a:srgbClr val="060E1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700808" y="4283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820180" y="4641056"/>
            <a:ext cx="45516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C8DB0"/>
                </a:solidFill>
                <a:latin typeface="Microsoft YaHei"/>
                <a:ea typeface="Microsoft YaHei"/>
                <a:cs typeface="Microsoft YaHei"/>
              </a:rPr>
              <a:t>构建 "材料改性 — 结构优化 — 精密制造 — 精准驱动" 一体化研发体系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5000"/>
            </a:avLst>
          </a:prstGeom>
          <a:solidFill>
            <a:srgbClr val="1A1208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62000" y="5334000"/>
            <a:ext cx="106680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34415" y="5601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核心论断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5368" y="5895499"/>
            <a:ext cx="4594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单一领域创新已无法突破现有技术瓶颈 → 亟需三大技术体系深度耦合、协同攻关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35368" y="6133624"/>
            <a:ext cx="35352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攻克尺度精度不足、驱动控制滞后、材料性能受限等关键难题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590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3" name="Rectangle 43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47750" y="3000375"/>
            <a:ext cx="1345644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0" b="1" dirty="0">
                <a:solidFill>
                  <a:srgbClr val="22D3EE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040" y="3482340"/>
            <a:ext cx="86121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Rectangle 6"/>
          <p:cNvSpPr/>
          <p:nvPr/>
        </p:nvSpPr>
        <p:spPr>
          <a:xfrm>
            <a:off x="3238500" y="2667000"/>
            <a:ext cx="28575" cy="1714500"/>
          </a:xfrm>
          <a:prstGeom prst="roundRect">
            <a:avLst>
              <a:gd name="adj" fmla="val 33333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678555" y="3121342"/>
            <a:ext cx="12695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第二章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88080" y="3773805"/>
            <a:ext cx="429587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C8DB0"/>
                </a:solidFill>
                <a:latin typeface="Microsoft YaHei"/>
                <a:ea typeface="Microsoft YaHei"/>
                <a:cs typeface="Microsoft YaHei"/>
              </a:rPr>
              <a:t>研究背景 — 发展历程与国内外现状</a:t>
            </a:r>
          </a:p>
        </p:txBody>
      </p:sp>
      <p:sp>
        <p:nvSpPr>
          <p:cNvPr id="9" name="Rectangle 9"/>
          <p:cNvSpPr/>
          <p:nvPr/>
        </p:nvSpPr>
        <p:spPr>
          <a:xfrm>
            <a:off x="1143000" y="5143500"/>
            <a:ext cx="5715000" cy="1905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77987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微纳技术三大发展阶段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3143250"/>
            <a:ext cx="10668000" cy="28575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52500"/>
            <a:ext cx="3238500" cy="19050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952500"/>
            <a:ext cx="3238500" cy="381000"/>
          </a:xfrm>
          <a:prstGeom prst="roundRect">
            <a:avLst>
              <a:gd name="adj" fmla="val 15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1143000"/>
            <a:ext cx="3238500" cy="1905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811345" y="1077278"/>
            <a:ext cx="11398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1960s – 1990s 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5838" y="154543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理论萌芽与静态操控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8695" y="1855470"/>
            <a:ext cx="1481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费曼微观机械构想 → 微米级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8695" y="207454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简易结构加工，依赖人工辅助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8695" y="2293620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与显微设备，被动式操控范畴</a:t>
            </a:r>
          </a:p>
        </p:txBody>
      </p:sp>
      <p:sp>
        <p:nvSpPr>
          <p:cNvPr id="15" name="Ellipse 15"/>
          <p:cNvSpPr/>
          <p:nvPr/>
        </p:nvSpPr>
        <p:spPr>
          <a:xfrm>
            <a:off x="2305050" y="3095625"/>
            <a:ext cx="152400" cy="152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476750" y="952500"/>
            <a:ext cx="3238500" cy="19050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476750" y="952500"/>
            <a:ext cx="3238500" cy="381000"/>
          </a:xfrm>
          <a:prstGeom prst="roundRect">
            <a:avLst>
              <a:gd name="adj" fmla="val 15000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4476750" y="1143000"/>
            <a:ext cx="3238500" cy="190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526095" y="1077278"/>
            <a:ext cx="11398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1990s – 2000s 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00588" y="154543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结构成型与主动驱动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3445" y="1855470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高精度光刻/微蚀刻/激光加工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3445" y="2074545"/>
            <a:ext cx="15290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→ 柔性机构 + 压电/静电驱动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3445" y="229362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→ 程序化动态作业体系</a:t>
            </a:r>
          </a:p>
        </p:txBody>
      </p:sp>
      <p:sp>
        <p:nvSpPr>
          <p:cNvPr id="24" name="Ellipse 24"/>
          <p:cNvSpPr/>
          <p:nvPr/>
        </p:nvSpPr>
        <p:spPr>
          <a:xfrm>
            <a:off x="6019800" y="3095625"/>
            <a:ext cx="152400" cy="152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8191500" y="952500"/>
            <a:ext cx="3238500" cy="19050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191500" y="952500"/>
            <a:ext cx="3238500" cy="381000"/>
          </a:xfrm>
          <a:prstGeom prst="roundRect">
            <a:avLst>
              <a:gd name="adj" fmla="val 15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8191500" y="1143000"/>
            <a:ext cx="3238500" cy="1905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384363" y="1077278"/>
            <a:ext cx="8527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2010s – 至今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15338" y="1545431"/>
            <a:ext cx="160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智能融合与多功能集成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18195" y="1855470"/>
            <a:ext cx="1355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微纳3D打印 + 机器视觉AI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18195" y="2074545"/>
            <a:ext cx="11510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→ 石墨烯/水凝胶赋能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18195" y="2293620"/>
            <a:ext cx="13250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→ 自适应智能作业新阶段</a:t>
            </a:r>
          </a:p>
        </p:txBody>
      </p:sp>
      <p:sp>
        <p:nvSpPr>
          <p:cNvPr id="33" name="Ellipse 33"/>
          <p:cNvSpPr/>
          <p:nvPr/>
        </p:nvSpPr>
        <p:spPr>
          <a:xfrm>
            <a:off x="9734550" y="3095625"/>
            <a:ext cx="152400" cy="152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3810000"/>
            <a:ext cx="10668000" cy="257175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32510" y="40614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演进主线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047750" y="4381500"/>
            <a:ext cx="10096500" cy="381000"/>
          </a:xfrm>
          <a:prstGeom prst="roundRect">
            <a:avLst>
              <a:gd name="adj" fmla="val 10000"/>
            </a:avLst>
          </a:prstGeom>
          <a:solidFill>
            <a:srgbClr val="080E18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225868" y="4523899"/>
            <a:ext cx="5134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理论构想 → 结构落地 → 智能集成：精密制造、柔性驱动、纳米材料三大技术体系协同赋能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047750" y="4905375"/>
            <a:ext cx="10096500" cy="381000"/>
          </a:xfrm>
          <a:prstGeom prst="roundRect">
            <a:avLst>
              <a:gd name="adj" fmla="val 10000"/>
            </a:avLst>
          </a:prstGeom>
          <a:solidFill>
            <a:srgbClr val="080E1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225868" y="5047774"/>
            <a:ext cx="52254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当前趋势：持续向高精度、高适配、智能化方向突破，为高端制造与精准医疗提供核心支撑</a:t>
            </a:r>
          </a:p>
        </p:txBody>
      </p:sp>
      <p:sp>
        <p:nvSpPr>
          <p:cNvPr id="40" name="Rectangle 40"/>
          <p:cNvSpPr/>
          <p:nvPr/>
        </p:nvSpPr>
        <p:spPr>
          <a:xfrm>
            <a:off x="1047750" y="5429250"/>
            <a:ext cx="10096500" cy="381000"/>
          </a:xfrm>
          <a:prstGeom prst="roundRect">
            <a:avLst>
              <a:gd name="adj" fmla="val 10000"/>
            </a:avLst>
          </a:prstGeom>
          <a:solidFill>
            <a:srgbClr val="080E1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225868" y="5571649"/>
            <a:ext cx="45558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技术体系：从单一构件加工 → 多尺度/多材料一体化集成 → 多学科深度交叉融合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590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3" name="Rectangle 43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5068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国内外研究现状对比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5143500" cy="5238750"/>
          </a:xfrm>
          <a:prstGeom prst="roundRect">
            <a:avLst>
              <a:gd name="adj" fmla="val 1111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04875"/>
            <a:ext cx="5143500" cy="428625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143000"/>
            <a:ext cx="5143500" cy="1905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749534" y="10448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国外研究优势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000125" y="15716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080E1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29665" y="1744028"/>
            <a:ext cx="19599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精密制造 — 起步早，体系成熟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1570" y="1998345"/>
            <a:ext cx="37133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MIT/Caltech建立微纳一体化制造工艺体系，微尺度误差补偿理论完善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00125" y="25241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080E1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29665" y="2696528"/>
            <a:ext cx="21069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柔顺机构 — 理论奠基，原创领先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1570" y="2950845"/>
            <a:ext cx="39293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伪刚体模型/拓扑优化等经典方法由欧美团队提出，多场耦合驱动体系成熟</a:t>
            </a:r>
          </a:p>
        </p:txBody>
      </p:sp>
      <p:sp>
        <p:nvSpPr>
          <p:cNvPr id="16" name="Rectangle 16"/>
          <p:cNvSpPr/>
          <p:nvPr/>
        </p:nvSpPr>
        <p:spPr>
          <a:xfrm>
            <a:off x="1000125" y="34766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080E1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29665" y="3649028"/>
            <a:ext cx="18129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驱动器件 — 高性能，长寿命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1570" y="3903345"/>
            <a:ext cx="38093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压电/磁致伸缩微驱动器具备纳米级分辨率与微秒级动态响应，稳定耐久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000125" y="44291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080E1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129665" y="4601528"/>
            <a:ext cx="21069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智能控制 — 集群协作，自主规划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1570" y="4855845"/>
            <a:ext cx="3623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自主轨迹规划、集群控制起步更早，复杂微环境自适应作业能力领先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904875"/>
            <a:ext cx="5143500" cy="5238750"/>
          </a:xfrm>
          <a:prstGeom prst="roundRect">
            <a:avLst>
              <a:gd name="adj" fmla="val 1111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286500" y="904875"/>
            <a:ext cx="5143500" cy="428625"/>
          </a:xfrm>
          <a:prstGeom prst="roundRect">
            <a:avLst>
              <a:gd name="adj" fmla="val 13333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86500" y="1143000"/>
            <a:ext cx="5143500" cy="190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274034" y="10448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国内研究特色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524625" y="15716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080E1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654165" y="1744028"/>
            <a:ext cx="24010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工程化能力 — 快速赶超，产业化落地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6070" y="1998345"/>
            <a:ext cx="3863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突破微构件残余应力控制、批量加工一致性等行业难题，性价比优势突出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524625" y="25241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080E1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654165" y="2696528"/>
            <a:ext cx="21069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装备自研 — 纳米级表面精度控制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6070" y="2950845"/>
            <a:ext cx="30232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国产微纳加工装备实现突破，关键指标追赶国际先进水平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24625" y="34766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080E1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4165" y="3649028"/>
            <a:ext cx="22539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场景应用 — 迭代迅速，差异化竞争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6070" y="3903345"/>
            <a:ext cx="3623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智能控制、自主规划、多机协同等层面优势明显，应用落地速度领先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524625" y="4429125"/>
            <a:ext cx="4667250" cy="809625"/>
          </a:xfrm>
          <a:prstGeom prst="roundRect">
            <a:avLst>
              <a:gd name="adj" fmla="val 4706"/>
            </a:avLst>
          </a:prstGeom>
          <a:solidFill>
            <a:srgbClr val="1A1208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54165" y="460152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现存短板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6070" y="4855845"/>
            <a:ext cx="38093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高端传感芯片/核心探针部分依赖进口，基础理论积累与原创性仍需加强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59015" y="6578441"/>
            <a:ext cx="814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47750" y="3000375"/>
            <a:ext cx="1345644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0" b="1" dirty="0">
                <a:solidFill>
                  <a:srgbClr val="22D3EE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040" y="3482340"/>
            <a:ext cx="86121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" name="Rectangle 6"/>
          <p:cNvSpPr/>
          <p:nvPr/>
        </p:nvSpPr>
        <p:spPr>
          <a:xfrm>
            <a:off x="3238500" y="2667000"/>
            <a:ext cx="28575" cy="1714500"/>
          </a:xfrm>
          <a:prstGeom prst="roundRect">
            <a:avLst>
              <a:gd name="adj" fmla="val 33333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678555" y="3121342"/>
            <a:ext cx="12695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第三章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88080" y="3773805"/>
            <a:ext cx="453390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C8DB0"/>
                </a:solidFill>
                <a:latin typeface="Microsoft YaHei"/>
                <a:ea typeface="Microsoft YaHei"/>
                <a:cs typeface="Microsoft YaHei"/>
              </a:rPr>
              <a:t>微纳操作和微纳米机器人的应用现状</a:t>
            </a:r>
          </a:p>
        </p:txBody>
      </p:sp>
      <p:sp>
        <p:nvSpPr>
          <p:cNvPr id="9" name="Rectangle 9"/>
          <p:cNvSpPr/>
          <p:nvPr/>
        </p:nvSpPr>
        <p:spPr>
          <a:xfrm>
            <a:off x="1143000" y="5143500"/>
            <a:ext cx="5715000" cy="1905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305290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精密制造与柔性驱动应用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5238750" cy="5334000"/>
          </a:xfrm>
          <a:prstGeom prst="roundRect">
            <a:avLst>
              <a:gd name="adj" fmla="val 1091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04875"/>
            <a:ext cx="5238750" cy="381000"/>
          </a:xfrm>
          <a:prstGeom prst="roundRect">
            <a:avLst>
              <a:gd name="adj" fmla="val 15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095375"/>
            <a:ext cx="5238750" cy="1905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651093" y="1005364"/>
            <a:ext cx="14605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机械微纳加工领域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rcRect l="0" t="35294" r="0" b="35294"/>
          <a:stretch>
            <a:fillRect/>
          </a:stretch>
        </p:blipFill>
        <p:spPr>
          <a:xfrm>
            <a:off x="1000125" y="1428750"/>
            <a:ext cx="4762500" cy="14287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87742" y="2990374"/>
            <a:ext cx="2865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分子动力学仿真实现探针与工件原子交互可视化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7742" y="3228499"/>
            <a:ext cx="2865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多尺度耦合仿真兼顾微观原子变形与宏观应力场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7742" y="3466624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国外率先实现单原子层极限刻划，体系完备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7742" y="3704749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国内聚焦工程痛点，优化工艺参数组合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000125" y="4048125"/>
            <a:ext cx="47625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87742" y="4228624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现存问题：仿真基于理想工况假设，与工程实际偏差大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7742" y="446674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行业痛点：试验数据标准化程度低，统一工艺标准缺失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904875"/>
            <a:ext cx="5143500" cy="5334000"/>
          </a:xfrm>
          <a:prstGeom prst="roundRect">
            <a:avLst>
              <a:gd name="adj" fmla="val 1111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904875"/>
            <a:ext cx="5143500" cy="381000"/>
          </a:xfrm>
          <a:prstGeom prst="roundRect">
            <a:avLst>
              <a:gd name="adj" fmla="val 15000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286500" y="1095375"/>
            <a:ext cx="5143500" cy="190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860185" y="100536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60E1A"/>
                </a:solidFill>
                <a:latin typeface="Microsoft YaHei"/>
                <a:ea typeface="Microsoft YaHei"/>
                <a:cs typeface="Microsoft YaHei"/>
              </a:rPr>
              <a:t>柔性机构与精密驱动领域</a:t>
            </a:r>
          </a:p>
        </p:txBody>
      </p:sp>
      <p:pic>
        <p:nvPicPr>
          <p:cNvPr id="22" name="Image 22"/>
          <p:cNvPicPr>
            <a:picLocks noChangeAspect="1"/>
          </p:cNvPicPr>
          <p:nvPr/>
        </p:nvPicPr>
        <p:blipFill>
          <a:blip r:embed="rId3"/>
          <a:srcRect l="0" t="7682" r="0" b="7682"/>
          <a:stretch>
            <a:fillRect/>
          </a:stretch>
        </p:blipFill>
        <p:spPr>
          <a:xfrm>
            <a:off x="6524625" y="1428750"/>
            <a:ext cx="2286000" cy="1238250"/>
          </a:xfrm>
          <a:prstGeom prst="rect">
            <a:avLst/>
          </a:prstGeom>
        </p:spPr>
      </p:pic>
      <p:pic>
        <p:nvPicPr>
          <p:cNvPr id="23" name="Image 23"/>
          <p:cNvPicPr>
            <a:picLocks noChangeAspect="1"/>
          </p:cNvPicPr>
          <p:nvPr/>
        </p:nvPicPr>
        <p:blipFill>
          <a:blip r:embed="rId4"/>
          <a:srcRect l="0" t="9485" r="0" b="9485"/>
          <a:stretch>
            <a:fillRect/>
          </a:stretch>
        </p:blipFill>
        <p:spPr>
          <a:xfrm>
            <a:off x="8953500" y="1428750"/>
            <a:ext cx="2286000" cy="123825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7113032" y="2776538"/>
            <a:ext cx="110918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微纳加工装备 | 微纳平台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2242" y="3133249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攻克几何、材料、接触非线性仿真难题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12242" y="3371374"/>
            <a:ext cx="21830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构建"力-电-热-结构"协同仿真体系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12242" y="3609499"/>
            <a:ext cx="27356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从单自由度柔性铰链迭代至多自由度并联平台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12242" y="3847624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自主研发复合型柔性铰链、对称式柔性导向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524625" y="4191000"/>
            <a:ext cx="47625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512242" y="4371499"/>
            <a:ext cx="37175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精度指标：运动行程 mm→nm | 定位精度 纳米级 | 力控 微牛级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12242" y="4657249"/>
            <a:ext cx="24950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现存问题：高端核心部件国产化稳定性欠缺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12242" y="4895374"/>
            <a:ext cx="24950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技术难点：多自由度耦合驱动误差难以消除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23380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纳米材料技术应用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3238500" cy="19050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>
            <a:noFill/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rcRect l="0" t="19760" r="0" b="19760"/>
          <a:stretch>
            <a:fillRect/>
          </a:stretch>
        </p:blipFill>
        <p:spPr>
          <a:xfrm>
            <a:off x="857250" y="1000125"/>
            <a:ext cx="3048000" cy="133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875711" y="2482691"/>
            <a:ext cx="10110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精密制造与仿真技术</a:t>
            </a:r>
          </a:p>
        </p:txBody>
      </p:sp>
      <p:sp>
        <p:nvSpPr>
          <p:cNvPr id="9" name="Rectangle 9"/>
          <p:cNvSpPr/>
          <p:nvPr/>
        </p:nvSpPr>
        <p:spPr>
          <a:xfrm>
            <a:off x="4476750" y="904875"/>
            <a:ext cx="3238500" cy="19050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>
            <a:noFill/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rcRect l="0" t="7745" r="0" b="7745"/>
          <a:stretch>
            <a:fillRect/>
          </a:stretch>
        </p:blipFill>
        <p:spPr>
          <a:xfrm>
            <a:off x="4572000" y="1000125"/>
            <a:ext cx="3048000" cy="1333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590461" y="2482691"/>
            <a:ext cx="10110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纳米材料介绍与应用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191500" y="904875"/>
            <a:ext cx="3238500" cy="19050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>
            <a:noFill/>
          </a:ln>
        </p:spPr>
      </p:sp>
      <p:pic>
        <p:nvPicPr>
          <p:cNvPr id="13" name="Image 13"/>
          <p:cNvPicPr>
            <a:picLocks noChangeAspect="1"/>
          </p:cNvPicPr>
          <p:nvPr/>
        </p:nvPicPr>
        <p:blipFill>
          <a:blip r:embed="rId4"/>
          <a:srcRect l="6947" t="0" r="6947" b="0"/>
          <a:stretch>
            <a:fillRect/>
          </a:stretch>
        </p:blipFill>
        <p:spPr>
          <a:xfrm>
            <a:off x="8286750" y="1000125"/>
            <a:ext cx="3048000" cy="1333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360218" y="248269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纳米材料技术应用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9527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62000" y="2952750"/>
            <a:ext cx="2476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648968" y="31565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结构增强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8695" y="347472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提升柔性构件抗疲劳性能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8695" y="369379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轻质高强超越传统极限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429000" y="29527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3429000" y="2952750"/>
            <a:ext cx="2476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315968" y="31565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功能驱动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55695" y="3474720"/>
            <a:ext cx="11630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纳米压电/MXene材料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55695" y="369379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实现驱动传感一体化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096000" y="29527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096000" y="2952750"/>
            <a:ext cx="2476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982968" y="31565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界面改性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22695" y="347472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优化涂层降低微尺度磨损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22695" y="369379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提升表面特性与生物相容性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763000" y="29527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8763000" y="2952750"/>
            <a:ext cx="2476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649968" y="315658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精准传感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89695" y="3474720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多模态感知融合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989695" y="3693795"/>
            <a:ext cx="12350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驱动-感知-操作一体化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4429125"/>
            <a:ext cx="5238750" cy="1809750"/>
          </a:xfrm>
          <a:prstGeom prst="roundRect">
            <a:avLst>
              <a:gd name="adj" fmla="val 3158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34415" y="46015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技术瓶颈：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5368" y="484774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高端纳米薄膜制备工艺、复杂异形结构成型精度不足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5368" y="513349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极端工况下材料性能衰减明显，多材料界面结合强度低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35368" y="5419249"/>
            <a:ext cx="22480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材料-结构-驱动协同设计体系尚未完善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5368" y="5704999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材料成型一致性差，性能易受微环境干扰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286500" y="4429125"/>
            <a:ext cx="5143500" cy="1809750"/>
          </a:xfrm>
          <a:prstGeom prst="roundRect">
            <a:avLst>
              <a:gd name="adj" fmla="val 3158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558915" y="4601528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国外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60820" y="4855845"/>
            <a:ext cx="32092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高端定制化技术优势显著，国防/航空航天领域极限性能领先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60820" y="509397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基础材料数据库完善，多尺度仿真工具链成熟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58915" y="541115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国内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60820" y="5665470"/>
            <a:ext cx="31432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工程化、产业化落地优势突出，成本控制与规模化能力领先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60820" y="5903595"/>
            <a:ext cx="20631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应用驱动型创新活跃，场景迭代速度快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47750" y="3000375"/>
            <a:ext cx="1345644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0" b="1" dirty="0">
                <a:solidFill>
                  <a:srgbClr val="F97316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040" y="3482340"/>
            <a:ext cx="86121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Rectangle 6"/>
          <p:cNvSpPr/>
          <p:nvPr/>
        </p:nvSpPr>
        <p:spPr>
          <a:xfrm>
            <a:off x="3238500" y="2667000"/>
            <a:ext cx="28575" cy="1714500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678555" y="3121342"/>
            <a:ext cx="12695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第四章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88080" y="3773805"/>
            <a:ext cx="22936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C8DB0"/>
                </a:solidFill>
                <a:latin typeface="Microsoft YaHei"/>
                <a:ea typeface="Microsoft YaHei"/>
                <a:cs typeface="Microsoft YaHei"/>
              </a:rPr>
              <a:t>目前所面临的问题</a:t>
            </a:r>
          </a:p>
        </p:txBody>
      </p:sp>
      <p:sp>
        <p:nvSpPr>
          <p:cNvPr id="9" name="Rectangle 9"/>
          <p:cNvSpPr/>
          <p:nvPr/>
        </p:nvSpPr>
        <p:spPr>
          <a:xfrm>
            <a:off x="1143000" y="5143500"/>
            <a:ext cx="5715000" cy="19050"/>
          </a:xfrm>
          <a:prstGeom prst="rect">
            <a:avLst/>
          </a:prstGeom>
          <a:solidFill>
            <a:srgbClr val="F97316">
              <a:alpha val="3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5068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六大领域产业化挑战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3333750" cy="123825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04875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34415" y="1077278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纳米复合材料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6320" y="1331595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分散困难→团聚→强度不升反降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6320" y="1541145"/>
            <a:ext cx="1409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回收难题→降级使用或焚烧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429125" y="904875"/>
            <a:ext cx="3333750" cy="123825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429125" y="904875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701540" y="107727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半导体制造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03445" y="1331595"/>
            <a:ext cx="12890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量子隧穿→芯片漏电发热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03445" y="1541145"/>
            <a:ext cx="14090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纳米级灰尘→整片晶圆报废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096250" y="904875"/>
            <a:ext cx="3333750" cy="123825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8096250" y="904875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68665" y="1077278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纳米涂层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70570" y="1331595"/>
            <a:ext cx="15290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耐久性差→物理强度先天不足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70570" y="1541145"/>
            <a:ext cx="14870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维护成本高→1-2年局部失效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2381250"/>
            <a:ext cx="3333750" cy="123825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762000" y="23812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34415" y="2553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纺织行业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6320" y="2807970"/>
            <a:ext cx="17930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结合不牢→纳米颗粒"粘"而不"长"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6320" y="3017520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洗涤流失+环境风险+健康隐患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429125" y="2381250"/>
            <a:ext cx="3333750" cy="123825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4429125" y="23812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701540" y="2553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切削刀具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03445" y="2807970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界面剥离→涂层/基体剪切应力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03445" y="3017520"/>
            <a:ext cx="16310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高温失效→1000°C再结晶/退火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2381250"/>
            <a:ext cx="3333750" cy="1238250"/>
          </a:xfrm>
          <a:prstGeom prst="roundRect">
            <a:avLst>
              <a:gd name="adj" fmla="val 4615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8096250" y="23812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8665" y="2553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生物医疗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0570" y="2807970"/>
            <a:ext cx="16490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动力供应→电池无法缩放至纳米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0570" y="3017520"/>
            <a:ext cx="1595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免疫清除+靶向识别+通信盲区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4000500"/>
            <a:ext cx="10668000" cy="952500"/>
          </a:xfrm>
          <a:prstGeom prst="roundRect">
            <a:avLst>
              <a:gd name="adj" fmla="val 6000"/>
            </a:avLst>
          </a:prstGeom>
          <a:solidFill>
            <a:srgbClr val="060E1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27760" y="425196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共性根源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9665" y="4601528"/>
            <a:ext cx="77276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C8DB0"/>
                </a:solidFill>
                <a:latin typeface="Microsoft YaHei"/>
                <a:ea typeface="Microsoft YaHei"/>
                <a:cs typeface="Microsoft YaHei"/>
              </a:rPr>
              <a:t>纳米级尺度下的物理极限与工程成本双重约束 | 微观性能优异但宏观环境适配困难 | 从"实验室可行"到"工厂可靠"的转化鸿沟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62000" y="5191125"/>
            <a:ext cx="3333750" cy="1047750"/>
          </a:xfrm>
          <a:prstGeom prst="roundRect">
            <a:avLst>
              <a:gd name="adj" fmla="val 5455"/>
            </a:avLst>
          </a:prstGeom>
          <a:solidFill>
            <a:srgbClr val="1A1208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762000" y="5191125"/>
            <a:ext cx="333375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2020788" y="54030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量产成本高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36320" y="5713095"/>
            <a:ext cx="1715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高纯度原料+昂贵真空/精密设备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36320" y="5951220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质控只能抽检，残次品浪费巨大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429125" y="5191125"/>
            <a:ext cx="3333750" cy="1047750"/>
          </a:xfrm>
          <a:prstGeom prst="roundRect">
            <a:avLst>
              <a:gd name="adj" fmla="val 5455"/>
            </a:avLst>
          </a:prstGeom>
          <a:solidFill>
            <a:srgbClr val="1A1208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4429125" y="5191125"/>
            <a:ext cx="333375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644595" y="5403056"/>
            <a:ext cx="9028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微→宏迁移难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703445" y="571309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纳米尺度完美特性在宏观环境中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703445" y="5951220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极易失效，长期稳定性难以保证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096250" y="5191125"/>
            <a:ext cx="3333750" cy="1047750"/>
          </a:xfrm>
          <a:prstGeom prst="roundRect">
            <a:avLst>
              <a:gd name="adj" fmla="val 5455"/>
            </a:avLst>
          </a:prstGeom>
          <a:solidFill>
            <a:srgbClr val="1A1208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096250" y="5191125"/>
            <a:ext cx="333375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276278" y="54030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检测极其困难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70570" y="571309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产线高吞吐率下无法实时检测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70570" y="595122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几纳米厚的涂层均匀性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5" name="Rectangle 55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23380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纳米产业核心矛盾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52500"/>
            <a:ext cx="10668000" cy="762000"/>
          </a:xfrm>
          <a:prstGeom prst="roundRect">
            <a:avLst>
              <a:gd name="adj" fmla="val 7500"/>
            </a:avLst>
          </a:prstGeom>
          <a:solidFill>
            <a:srgbClr val="060E1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176212" y="1266825"/>
            <a:ext cx="38395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"单一技术维度创新已难以突破行业瓶颈"</a:t>
            </a:r>
          </a:p>
        </p:txBody>
      </p:sp>
      <p:sp>
        <p:nvSpPr>
          <p:cNvPr id="8" name="Rectangle 8"/>
          <p:cNvSpPr/>
          <p:nvPr/>
        </p:nvSpPr>
        <p:spPr>
          <a:xfrm>
            <a:off x="762000" y="2000250"/>
            <a:ext cx="5143500" cy="19050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62000" y="2000250"/>
            <a:ext cx="5143500" cy="47625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762000" y="2286000"/>
            <a:ext cx="5143500" cy="1905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781991" y="217693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科学工程维度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5368" y="2704624"/>
            <a:ext cx="37757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微观完美与宏观脆弱的矛盾：实验室表现惊艳，真实工况下衰减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5368" y="2990374"/>
            <a:ext cx="299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长期稳定性与高性价比量产是必须跨越的核心鸿沟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5368" y="3276124"/>
            <a:ext cx="23585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材料-结构-驱动协同设计体系尚未完善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5368" y="3561874"/>
            <a:ext cx="24755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多场耦合、尺度适配等基础科学问题未解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2000250"/>
            <a:ext cx="5143500" cy="19050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286500" y="2000250"/>
            <a:ext cx="5143500" cy="47625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286500" y="2286000"/>
            <a:ext cx="5143500" cy="190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306491" y="217693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生态健康维度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59868" y="2704624"/>
            <a:ext cx="35287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纳米毒理学数据匮乏：自然循环/食物链/长期滞留机制不明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59868" y="2990374"/>
            <a:ext cx="35157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新型环境污染：纳米产品普及对微生物生态系统不可逆破坏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59868" y="3276124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纳米银等杀菌材料进入水体后破坏生态平衡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59868" y="3561874"/>
            <a:ext cx="27356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极微小颗粒可穿透皮肤毛囊进入人体循环系统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4191000"/>
            <a:ext cx="5143500" cy="19050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762000" y="4191000"/>
            <a:ext cx="5143500" cy="47625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762000" y="4476750"/>
            <a:ext cx="5143500" cy="1905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781991" y="4367689"/>
            <a:ext cx="11035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社会伦理维度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5368" y="4895374"/>
            <a:ext cx="27486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技术"平权"：高端纳米医疗可能固化阶级鸿沟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5368" y="5181124"/>
            <a:ext cx="23325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"超人类" vs "自然人"的伦理边界模糊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5368" y="5466874"/>
            <a:ext cx="3457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安全/武器化风险：纳米技术可制造隐蔽性极强的生化武器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5368" y="5752624"/>
            <a:ext cx="27356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隐私风险：纳米传感器网络的大规模监控能力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4191000"/>
            <a:ext cx="5143500" cy="1905000"/>
          </a:xfrm>
          <a:prstGeom prst="roundRect">
            <a:avLst>
              <a:gd name="adj" fmla="val 3000"/>
            </a:avLst>
          </a:prstGeom>
          <a:solidFill>
            <a:srgbClr val="060E1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274034" y="44738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发展路径建议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57962" y="4926806"/>
            <a:ext cx="19563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❶ 同步推进智能纳米安全监管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57962" y="5212556"/>
            <a:ext cx="1806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❷ 加强纳米毒理学基础研究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57962" y="5498306"/>
            <a:ext cx="1806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❸ 出台全球统一的纳米分级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00838" y="573643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管控标准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9" name="Rectangle 3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47750" y="3000375"/>
            <a:ext cx="1345644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0" b="1" dirty="0">
                <a:solidFill>
                  <a:srgbClr val="22D3EE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2040" y="3482340"/>
            <a:ext cx="86121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Rectangle 6"/>
          <p:cNvSpPr/>
          <p:nvPr/>
        </p:nvSpPr>
        <p:spPr>
          <a:xfrm>
            <a:off x="3238500" y="2667000"/>
            <a:ext cx="28575" cy="1714500"/>
          </a:xfrm>
          <a:prstGeom prst="roundRect">
            <a:avLst>
              <a:gd name="adj" fmla="val 33333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678555" y="3121342"/>
            <a:ext cx="126954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第五章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88080" y="3773805"/>
            <a:ext cx="20135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7C8DB0"/>
                </a:solidFill>
                <a:latin typeface="Microsoft YaHei"/>
                <a:ea typeface="Microsoft YaHei"/>
                <a:cs typeface="Microsoft YaHei"/>
              </a:rPr>
              <a:t>展望与思考总结</a:t>
            </a:r>
          </a:p>
        </p:txBody>
      </p:sp>
      <p:sp>
        <p:nvSpPr>
          <p:cNvPr id="9" name="Rectangle 9"/>
          <p:cNvSpPr/>
          <p:nvPr/>
        </p:nvSpPr>
        <p:spPr>
          <a:xfrm>
            <a:off x="1143000" y="5143500"/>
            <a:ext cx="5715000" cy="1905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23380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未来三大突破方向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3333750" cy="3524250"/>
          </a:xfrm>
          <a:prstGeom prst="roundRect">
            <a:avLst>
              <a:gd name="adj" fmla="val 1714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04875"/>
            <a:ext cx="3333750" cy="47625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62000" y="1190625"/>
            <a:ext cx="3333750" cy="1905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033683" y="10734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精准医疗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2992" y="1656874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智能靶向给药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3945" y="190309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识别特定癌细胞标志物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3945" y="2112645"/>
            <a:ext cx="1355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实现"零副作用"治愈癌症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95375" y="2428875"/>
            <a:ext cx="27622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82992" y="256174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体内实时监测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3945" y="280797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纳米传感器网络在发病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3945" y="301752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前数月甚至数秒内预警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095375" y="3333750"/>
            <a:ext cx="27622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82992" y="3466624"/>
            <a:ext cx="12534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人工器官与组织工程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3945" y="3712845"/>
            <a:ext cx="9949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纳米级3D打印模拟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3945" y="39223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人体细胞外基质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429125" y="904875"/>
            <a:ext cx="3333750" cy="3524250"/>
          </a:xfrm>
          <a:prstGeom prst="roundRect">
            <a:avLst>
              <a:gd name="adj" fmla="val 1714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429125" y="904875"/>
            <a:ext cx="3333750" cy="476250"/>
          </a:xfrm>
          <a:prstGeom prst="roundRect">
            <a:avLst>
              <a:gd name="adj" fmla="val 12000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429125" y="1190625"/>
            <a:ext cx="3333750" cy="1905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417272" y="10734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清洁能源与环境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50118" y="1656874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下一代高效能源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51070" y="1903095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太阳能电池光电转换效率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51070" y="21126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突破现有理论极限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762500" y="2428875"/>
            <a:ext cx="27622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750118" y="2561749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分子级环境治理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51070" y="280797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纳米催化剂分解塑料微粒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751070" y="301752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吸附重金属、捕集CO2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762500" y="3333750"/>
            <a:ext cx="27622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750118" y="3466624"/>
            <a:ext cx="980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碳中和纳米技术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51070" y="37128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新型碳捕集纳米材料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751070" y="392239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助力全球碳中和目标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96250" y="904875"/>
            <a:ext cx="3333750" cy="3524250"/>
          </a:xfrm>
          <a:prstGeom prst="roundRect">
            <a:avLst>
              <a:gd name="adj" fmla="val 1714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096250" y="904875"/>
            <a:ext cx="3333750" cy="47625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8096250" y="1190625"/>
            <a:ext cx="3333750" cy="1905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895374" y="10734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信息技术与人机融合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17242" y="1656874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超越摩尔定律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8195" y="190309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基于二维纳米材料的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18195" y="21126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光子芯片或量子芯片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429625" y="2428875"/>
            <a:ext cx="27622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417242" y="2561749"/>
            <a:ext cx="8438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微观脑机接口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18195" y="280797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纳米电极穿过血脑屏障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18195" y="301752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高分辨率神经信号读写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429625" y="3333750"/>
            <a:ext cx="27622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417242" y="3466624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量子-纳米混合计算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18195" y="37128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纳米结构与量子比特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418195" y="39223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深度融合计算架构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62000" y="4762500"/>
            <a:ext cx="10668000" cy="1619250"/>
          </a:xfrm>
          <a:prstGeom prst="roundRect">
            <a:avLst>
              <a:gd name="adj" fmla="val 3529"/>
            </a:avLst>
          </a:prstGeom>
          <a:solidFill>
            <a:srgbClr val="060E1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700808" y="50453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研究结论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29665" y="5458778"/>
            <a:ext cx="43042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C8DB0"/>
                </a:solidFill>
                <a:latin typeface="Microsoft YaHei"/>
                <a:ea typeface="Microsoft YaHei"/>
                <a:cs typeface="Microsoft YaHei"/>
              </a:rPr>
              <a:t>构建"材料改性 — 结构优化 — 精密制造 — 精准驱动"一体化研发体系，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29665" y="5744528"/>
            <a:ext cx="53473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C8DB0"/>
                </a:solidFill>
                <a:latin typeface="Microsoft YaHei"/>
                <a:ea typeface="Microsoft YaHei"/>
                <a:cs typeface="Microsoft YaHei"/>
              </a:rPr>
              <a:t>攻克尺度适配、多场耦合、生物兼容等关键难题，是推动纳米机器人规模化工程应用、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29665" y="6030278"/>
            <a:ext cx="26870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C8DB0"/>
                </a:solidFill>
                <a:latin typeface="Microsoft YaHei"/>
                <a:ea typeface="Microsoft YaHei"/>
                <a:cs typeface="Microsoft YaHei"/>
              </a:rPr>
              <a:t>实现纳米技术可持续健康发展的核心路径。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7" name="Rectangle 57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E1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7235" y="313373"/>
            <a:ext cx="25068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风险治理与发展路线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6667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904875"/>
            <a:ext cx="3333750" cy="2381250"/>
          </a:xfrm>
          <a:prstGeom prst="roundRect">
            <a:avLst>
              <a:gd name="adj" fmla="val 2400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904875"/>
            <a:ext cx="3333750" cy="47625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909572" y="1156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科学工程风险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7742" y="1561624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微观完美与宏观脆弱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7742" y="1847374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长期稳定性难以保证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7742" y="2133124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高性价比量产难以实现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7742" y="2418874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基础理论体系尚不完善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7742" y="2704624"/>
            <a:ext cx="1565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多场耦合问题未根本解决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429125" y="904875"/>
            <a:ext cx="3333750" cy="2381250"/>
          </a:xfrm>
          <a:prstGeom prst="roundRect">
            <a:avLst>
              <a:gd name="adj" fmla="val 2400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429125" y="904875"/>
            <a:ext cx="3333750" cy="47625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576697" y="1156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生态健康风险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54868" y="1561624"/>
            <a:ext cx="1565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纳米毒理学数据严重匮乏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54868" y="1847374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食物链富集机制不明确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4868" y="2133124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长期慢性毒性未知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54868" y="2418874"/>
            <a:ext cx="16954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微生物生态系统不可逆破坏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54868" y="2704624"/>
            <a:ext cx="14354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纳米颗粒人体穿透风险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0" y="904875"/>
            <a:ext cx="3333750" cy="2381250"/>
          </a:xfrm>
          <a:prstGeom prst="roundRect">
            <a:avLst>
              <a:gd name="adj" fmla="val 2400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8096250" y="904875"/>
            <a:ext cx="3333750" cy="47625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243822" y="1156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社会伦理风险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21992" y="1561624"/>
            <a:ext cx="1448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技术"平权"与阶级固化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21992" y="1847374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人与自然的定义边界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21992" y="2133124"/>
            <a:ext cx="10453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生化武器化风险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21992" y="2418874"/>
            <a:ext cx="10453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大规模隐私监控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21992" y="2704624"/>
            <a:ext cx="13054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• 监管滞后于技术发展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3571875"/>
            <a:ext cx="10668000" cy="1524000"/>
          </a:xfrm>
          <a:prstGeom prst="roundRect">
            <a:avLst>
              <a:gd name="adj" fmla="val 3750"/>
            </a:avLst>
          </a:prstGeom>
          <a:solidFill>
            <a:srgbClr val="060E1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06296" y="380714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发展路线图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047750" y="4191000"/>
            <a:ext cx="3048000" cy="666750"/>
          </a:xfrm>
          <a:prstGeom prst="roundRect">
            <a:avLst>
              <a:gd name="adj" fmla="val 5714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076930" y="4363402"/>
            <a:ext cx="9896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近期（5年内）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00238" y="4617720"/>
            <a:ext cx="13430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完善纳米毒理学基础研究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497943" y="43148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048250" y="4191000"/>
            <a:ext cx="3048000" cy="666750"/>
          </a:xfrm>
          <a:prstGeom prst="roundRect">
            <a:avLst>
              <a:gd name="adj" fmla="val 5714"/>
            </a:avLst>
          </a:prstGeom>
          <a:solidFill>
            <a:srgbClr val="22D3E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029649" y="4363402"/>
            <a:ext cx="10852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中期（5-10年）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840730" y="46177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建立全球统一伦理监管框架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98443" y="431482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22D3EE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048750" y="4191000"/>
            <a:ext cx="2095500" cy="666750"/>
          </a:xfrm>
          <a:prstGeom prst="roundRect">
            <a:avLst>
              <a:gd name="adj" fmla="val 5714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594329" y="4363402"/>
            <a:ext cx="10043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80E18"/>
                </a:solidFill>
                <a:latin typeface="Microsoft YaHei"/>
                <a:ea typeface="Microsoft YaHei"/>
                <a:cs typeface="Microsoft YaHei"/>
              </a:rPr>
              <a:t>远期（10年+）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45002" y="461772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899BB"/>
                </a:solidFill>
                <a:latin typeface="Microsoft YaHei"/>
                <a:ea typeface="Microsoft YaHei"/>
                <a:cs typeface="Microsoft YaHei"/>
              </a:rPr>
              <a:t>技术与安全协调发展</a:t>
            </a:r>
          </a:p>
        </p:txBody>
      </p:sp>
      <p:sp>
        <p:nvSpPr>
          <p:cNvPr id="43" name="Rectangle 43"/>
          <p:cNvSpPr/>
          <p:nvPr/>
        </p:nvSpPr>
        <p:spPr>
          <a:xfrm>
            <a:off x="762000" y="5334000"/>
            <a:ext cx="10668000" cy="104775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762000" y="5334000"/>
            <a:ext cx="10668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700808" y="5569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66373" y="5926931"/>
            <a:ext cx="54592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CCD6E0"/>
                </a:solidFill>
                <a:latin typeface="Microsoft YaHei"/>
                <a:ea typeface="Microsoft YaHei"/>
                <a:cs typeface="Microsoft YaHei"/>
              </a:rPr>
              <a:t>纳米技术与纳米机器人的工程化落地必须走"技术攻关"与"安全保障"双轮驱动之路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8" name="Rectangle 48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E1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714750" y="2667000"/>
            <a:ext cx="476250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601880" y="2975610"/>
            <a:ext cx="2988240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6" name="Rectangle 6"/>
          <p:cNvSpPr/>
          <p:nvPr/>
        </p:nvSpPr>
        <p:spPr>
          <a:xfrm>
            <a:off x="3714750" y="4000500"/>
            <a:ext cx="4762500" cy="1905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068419" y="4584382"/>
            <a:ext cx="20551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7C8DB0"/>
                </a:solidFill>
                <a:latin typeface="Microsoft YaHei"/>
                <a:ea typeface="Microsoft YaHei"/>
                <a:cs typeface="Microsoft YaHei"/>
              </a:rPr>
              <a:t>感谢聆听 · 欢迎指正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88648" y="5109210"/>
            <a:ext cx="18147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7799"/>
                </a:solidFill>
                <a:latin typeface="Microsoft YaHei"/>
                <a:ea typeface="Microsoft YaHei"/>
                <a:cs typeface="Microsoft YaHei"/>
              </a:rPr>
              <a:t>天津大学 · 机械工程学院</a:t>
            </a:r>
          </a:p>
        </p:txBody>
      </p:sp>
      <p:sp>
        <p:nvSpPr>
          <p:cNvPr id="9" name="Rectangle 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2026-06-19T15:29:04Z</dcterms:created>
  <dcterms:modified xsi:type="dcterms:W3CDTF">2026-06-19T15:29:04Z</dcterms:modified>
  <cp:category/>
  <cp:contentStatus/>
</cp:coreProperties>
</file>