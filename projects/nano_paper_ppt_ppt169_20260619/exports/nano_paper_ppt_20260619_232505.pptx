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524000" y="1524000"/>
            <a:ext cx="38100" cy="36195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887855" y="2140268"/>
            <a:ext cx="20415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天津大学 · 机械工程学院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64995" y="2707958"/>
            <a:ext cx="49316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纳米技术及纳米机器人的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64995" y="3327082"/>
            <a:ext cx="22852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应用和现状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0" y="4000500"/>
            <a:ext cx="1524000" cy="2857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89760" y="4442460"/>
            <a:ext cx="2502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BCC"/>
                </a:solidFill>
                <a:latin typeface="Microsoft YaHei"/>
                <a:ea typeface="Microsoft YaHei"/>
                <a:cs typeface="Microsoft YaHei"/>
              </a:rPr>
              <a:t>汪翔天 · 黄子烨 · 钟乐昕 · 马锦龙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1665" y="4839652"/>
            <a:ext cx="25679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智能制造工程 · 机械设计制造及其自动化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1665" y="5125402"/>
            <a:ext cx="474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2025级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423862"/>
            <a:ext cx="78174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目 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8572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143000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11580" y="1440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0" y="1476375"/>
            <a:ext cx="28575" cy="23812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124075" y="15335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第一章：绪论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143125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11580" y="244030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0" y="2476500"/>
            <a:ext cx="28575" cy="23812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24075" y="2533650"/>
            <a:ext cx="40601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第二章：研究背景 — 发展历程与国内外现状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3143250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11580" y="34404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905000" y="3476625"/>
            <a:ext cx="28575" cy="23812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24075" y="353377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第三章：微纳操作和微纳米机器人的应用现状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143375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11580" y="44405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905000" y="4476750"/>
            <a:ext cx="28575" cy="23812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124075" y="4533900"/>
            <a:ext cx="2558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第四章：目前所面临的问题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5143500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11580" y="54406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D7C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5476875"/>
            <a:ext cx="28575" cy="23812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124075" y="5534025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第五章：展望与思考总结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67750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摘 要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857250"/>
            <a:ext cx="5143500" cy="5524500"/>
          </a:xfrm>
          <a:prstGeom prst="roundRect">
            <a:avLst>
              <a:gd name="adj" fmla="val 111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857250"/>
            <a:ext cx="57150" cy="5524500"/>
          </a:xfrm>
          <a:prstGeom prst="roundRect">
            <a:avLst>
              <a:gd name="adj" fmla="val 50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2510" y="1061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中文摘要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6320" y="142684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微纳尺度技术是精密工程、机器人学与材料科学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" y="166497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交叉形成的前沿学科。本文以纳米技术与纳米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6320" y="190309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机器人为研究对象，首先梳理三大发展阶段，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" y="214122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系统对比国内外在精密加工、柔顺机构、纳米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320" y="237934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材料方向的研究优势与不足。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6320" y="27603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其次分别阐述机械微纳加工、柔性精密驱动、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299847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纳米材料改性三大场景的应用现状，剖析仿真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6320" y="323659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建模、装备开发、试验验证全链条技术短板。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6320" y="3617595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随后从复合材料、半导体制造、纳米涂层、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385572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纺织、刀具、生物医疗六大领域，归纳产业化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320" y="40938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落地共性难题与三大行业痛点。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" y="44748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最后对精准医疗、清洁能源、信息芯片、脑机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320" y="4712970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接口等方向进行展望，辩证分析潜在风险，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" y="4951095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提出同步完善毒理研究、建立全球监管规范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51892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的发展思路。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320" y="571309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关键词：纳米技术；微纳米机器人；柔性驱动；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320" y="59512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纳米材料；精密制造；生物医疗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857250"/>
            <a:ext cx="5143500" cy="5524500"/>
          </a:xfrm>
          <a:prstGeom prst="roundRect">
            <a:avLst>
              <a:gd name="adj" fmla="val 111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857250"/>
            <a:ext cx="57150" cy="55245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57010" y="1061085"/>
            <a:ext cx="769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Abstract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1772" y="1434941"/>
            <a:ext cx="23532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As an interdisciplinary frontier integrating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1772" y="1644491"/>
            <a:ext cx="24632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precision engineering, robotics and materials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61772" y="1854041"/>
            <a:ext cx="2331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science, this paper systematically reviews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61772" y="2063591"/>
            <a:ext cx="2424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nanotechnology and nanorobots across three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1772" y="2273141"/>
            <a:ext cx="24357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development stages, comparing domestic and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1772" y="2482691"/>
            <a:ext cx="2496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international research in precision machining,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1772" y="2692241"/>
            <a:ext cx="23092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compliant mechanisms, and nanomaterials.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61772" y="3054191"/>
            <a:ext cx="24687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It elaborates application status in mechanical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1772" y="3263741"/>
            <a:ext cx="24852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micro-nano machining, flexible actuation, and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1772" y="3473291"/>
            <a:ext cx="25182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nanomaterial modification, analyzing technical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1772" y="3682841"/>
            <a:ext cx="23532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shortcomings in simulation, equipment, and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61772" y="389239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experimental verification.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1772" y="4254341"/>
            <a:ext cx="24742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Furthermore, it summarizes industrialization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61772" y="4463891"/>
            <a:ext cx="22652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challenges across six fields and identifies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61772" y="4673441"/>
            <a:ext cx="2078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three universal industrial pain points.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61772" y="503539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Finally, prospects for breakthroughs in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61772" y="5244941"/>
            <a:ext cx="23367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precision medicine, clean energy, next-gen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61772" y="5454491"/>
            <a:ext cx="2589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chips, and BCI are presented with risk analysis.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61772" y="5911691"/>
            <a:ext cx="25567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E75"/>
                </a:solidFill>
                <a:latin typeface="Arial"/>
                <a:ea typeface="Microsoft YaHei"/>
                <a:cs typeface="Arial"/>
              </a:rPr>
              <a:t>Keywords: Nanotechnology; Micro-nanorobots;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61772" y="6121241"/>
            <a:ext cx="24577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E75"/>
                </a:solidFill>
                <a:latin typeface="Arial"/>
                <a:ea typeface="Microsoft YaHei"/>
                <a:cs typeface="Arial"/>
              </a:rPr>
              <a:t>Flexible Actuation; Nanomaterials; Biomedical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0066B3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66B3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40158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绪论 — 三大技术体系与研究框架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0066B3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359897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三大核心技术体系与研究目标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3333750" cy="2667000"/>
          </a:xfrm>
          <a:prstGeom prst="roundRect">
            <a:avLst>
              <a:gd name="adj" fmla="val 2143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52500"/>
            <a:ext cx="3333750" cy="47625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44659" y="1235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精密机械制造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5368" y="16568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飞秒激光微纳加工、微注塑成型、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368" y="1894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电化学刻蚀、高精度光刻等工艺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368" y="21807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实现微米级结构轮廓精度与纳米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68" y="24188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级表面粗糙度控制，多尺度一体化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368" y="26569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集成制造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3048000"/>
            <a:ext cx="2857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6320" y="32365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→ 决定结构精度与作业可靠性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29125" y="952500"/>
            <a:ext cx="3333750" cy="2667000"/>
          </a:xfrm>
          <a:prstGeom prst="roundRect">
            <a:avLst>
              <a:gd name="adj" fmla="val 2143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429125" y="952500"/>
            <a:ext cx="3333750" cy="4762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228249" y="1235392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柔性机构与精密驱动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2492" y="165687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柔性机构依靠材料弹性变形实现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2492" y="1894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运动与力控，无传动间隙和摩擦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2492" y="21807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磨损；压电驱动为主流，磁/光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2492" y="241887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驱动适配生物微环境无损伤作业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14875" y="3048000"/>
            <a:ext cx="2857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03445" y="3236595"/>
            <a:ext cx="1445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→ 实现高精度、自适应作业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96250" y="952500"/>
            <a:ext cx="3333750" cy="2667000"/>
          </a:xfrm>
          <a:prstGeom prst="roundRect">
            <a:avLst>
              <a:gd name="adj" fmla="val 2143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96250" y="952500"/>
            <a:ext cx="3333750" cy="47625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78909" y="1235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功能纳米材料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618" y="16568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石墨烯、碳纳米管、智能水凝胶、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618" y="189499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介电弹性体等，实现驱动、感知、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618" y="21807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操作一体化，纳米复合材料提升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241887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抗疲劳性，涂层优化表面特性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382000" y="3048000"/>
            <a:ext cx="2857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70570" y="3236595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→ 性能突破与功能拓展关键载体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0005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0B1D3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700808" y="4283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20180" y="4641056"/>
            <a:ext cx="45516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构建 "材料改性 — 结构优化 — 精密制造 — 精准驱动" 一体化研发体系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62000" y="5334000"/>
            <a:ext cx="1066800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34415" y="5601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核心论断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5368" y="5895499"/>
            <a:ext cx="4594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单一领域创新已无法突破现有技术瓶颈 → 亟需三大技术体系深度耦合、协同攻关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5368" y="6133624"/>
            <a:ext cx="3535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攻克尺度精度不足、驱动控制滞后、材料性能受限等关键难题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0066B3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66B3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42958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研究背景 — 发展历程与国内外现状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0066B3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7798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微纳技术三大发展阶段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3143250"/>
            <a:ext cx="10668000" cy="28575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52500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3238500" cy="381000"/>
          </a:xfrm>
          <a:prstGeom prst="roundRect">
            <a:avLst>
              <a:gd name="adj" fmla="val 15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143000"/>
            <a:ext cx="323850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11345" y="1077278"/>
            <a:ext cx="1139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1960s – 1990s 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5838" y="154543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理论萌芽与静态操控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8695" y="1855470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费曼微观机械构想 → 微米级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8695" y="207454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简易结构加工，依赖人工辅助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8695" y="22936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与显微设备，被动式操控范畴</a:t>
            </a:r>
          </a:p>
        </p:txBody>
      </p:sp>
      <p:sp>
        <p:nvSpPr>
          <p:cNvPr id="15" name="Ellipse 15"/>
          <p:cNvSpPr/>
          <p:nvPr/>
        </p:nvSpPr>
        <p:spPr>
          <a:xfrm>
            <a:off x="2305050" y="3095625"/>
            <a:ext cx="152400" cy="152400"/>
          </a:xfrm>
          <a:prstGeom prst="ellipse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476750" y="952500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476750" y="952500"/>
            <a:ext cx="3238500" cy="381000"/>
          </a:xfrm>
          <a:prstGeom prst="roundRect">
            <a:avLst>
              <a:gd name="adj" fmla="val 15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476750" y="1143000"/>
            <a:ext cx="3238500" cy="1905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26095" y="1077278"/>
            <a:ext cx="1139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1990s – 2000s 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0588" y="154543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结构成型与主动驱动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3445" y="185547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高精度光刻/微蚀刻/激光加工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3445" y="2074545"/>
            <a:ext cx="15290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柔性机构 + 压电/静电驱动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3445" y="229362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程序化动态作业体系</a:t>
            </a:r>
          </a:p>
        </p:txBody>
      </p:sp>
      <p:sp>
        <p:nvSpPr>
          <p:cNvPr id="24" name="Ellipse 24"/>
          <p:cNvSpPr/>
          <p:nvPr/>
        </p:nvSpPr>
        <p:spPr>
          <a:xfrm>
            <a:off x="6019800" y="3095625"/>
            <a:ext cx="152400" cy="152400"/>
          </a:xfrm>
          <a:prstGeom prst="ellipse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191500" y="952500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191500" y="952500"/>
            <a:ext cx="3238500" cy="381000"/>
          </a:xfrm>
          <a:prstGeom prst="roundRect">
            <a:avLst>
              <a:gd name="adj" fmla="val 15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191500" y="1143000"/>
            <a:ext cx="323850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384363" y="1077278"/>
            <a:ext cx="8527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2010s – 至今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5338" y="1545431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智能融合与多功能集成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18195" y="1855470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微纳3D打印 + 机器视觉AI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8195" y="2074545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石墨烯/水凝胶赋能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18195" y="2293620"/>
            <a:ext cx="1325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自适应智能作业新阶段</a:t>
            </a:r>
          </a:p>
        </p:txBody>
      </p:sp>
      <p:sp>
        <p:nvSpPr>
          <p:cNvPr id="33" name="Ellipse 33"/>
          <p:cNvSpPr/>
          <p:nvPr/>
        </p:nvSpPr>
        <p:spPr>
          <a:xfrm>
            <a:off x="9734550" y="3095625"/>
            <a:ext cx="152400" cy="152400"/>
          </a:xfrm>
          <a:prstGeom prst="ellipse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3810000"/>
            <a:ext cx="10668000" cy="257175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32510" y="4061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演进主线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47750" y="4381500"/>
            <a:ext cx="100965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225868" y="4523899"/>
            <a:ext cx="5134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理论构想 → 结构落地 → 智能集成：精密制造、柔性驱动、纳米材料三大技术体系协同赋能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047750" y="4905375"/>
            <a:ext cx="100965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225868" y="5047774"/>
            <a:ext cx="5225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当前趋势：持续向高精度、高适配、智能化方向突破，为高端制造与精准医疗提供核心支撑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047750" y="5429250"/>
            <a:ext cx="100965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25868" y="5571649"/>
            <a:ext cx="45558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技术体系：从单一构件加工 → 多尺度/多材料一体化集成 → 多学科深度交叉融合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国内外研究现状对比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5143500" cy="5238750"/>
          </a:xfrm>
          <a:prstGeom prst="roundRect">
            <a:avLst>
              <a:gd name="adj" fmla="val 111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5143500" cy="428625"/>
          </a:xfrm>
          <a:prstGeom prst="roundRect">
            <a:avLst>
              <a:gd name="adj" fmla="val 13333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143000"/>
            <a:ext cx="514350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749534" y="10448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国外研究优势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00125" y="1571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9665" y="1744028"/>
            <a:ext cx="1959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精密制造 — 起步早，体系成熟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1570" y="1998345"/>
            <a:ext cx="3713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MIT/Caltech建立微纳一体化制造工艺体系，微尺度误差补偿理论完善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00125" y="2524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29665" y="2696528"/>
            <a:ext cx="2106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柔顺机构 — 理论奠基，原创领先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1570" y="2950845"/>
            <a:ext cx="39293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伪刚体模型/拓扑优化等经典方法由欧美团队提出，多场耦合驱动体系成熟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0125" y="3476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9665" y="3649028"/>
            <a:ext cx="1812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驱动器件 — 高性能，长寿命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1570" y="3903345"/>
            <a:ext cx="3809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压电/磁致伸缩微驱动器具备纳米级分辨率与微秒级动态响应，稳定耐久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00125" y="4429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29665" y="4601528"/>
            <a:ext cx="2106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智能控制 — 集群协作，自主规划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1570" y="4855845"/>
            <a:ext cx="3623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自主轨迹规划、集群控制起步更早，复杂微环境自适应作业能力领先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904875"/>
            <a:ext cx="5143500" cy="5238750"/>
          </a:xfrm>
          <a:prstGeom prst="roundRect">
            <a:avLst>
              <a:gd name="adj" fmla="val 111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904875"/>
            <a:ext cx="5143500" cy="428625"/>
          </a:xfrm>
          <a:prstGeom prst="roundRect">
            <a:avLst>
              <a:gd name="adj" fmla="val 13333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1143000"/>
            <a:ext cx="5143500" cy="1905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74034" y="10448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国内研究特色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524625" y="1571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654165" y="1744028"/>
            <a:ext cx="2401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工程化能力 — 快速赶超，产业化落地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6070" y="1998345"/>
            <a:ext cx="3863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突破微构件残余应力控制、批量加工一致性等行业难题，性价比优势突出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24625" y="2524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54165" y="2696528"/>
            <a:ext cx="2106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装备自研 — 纳米级表面精度控制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6070" y="2950845"/>
            <a:ext cx="3023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国产微纳加工装备实现突破，关键指标追赶国际先进水平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24625" y="3476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4165" y="3649028"/>
            <a:ext cx="22539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场景应用 — 迭代迅速，差异化竞争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070" y="3903345"/>
            <a:ext cx="3623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智能控制、自主规划、多机协同等层面优势明显，应用落地速度领先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524625" y="4429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4165" y="46015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现存短板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6070" y="4855845"/>
            <a:ext cx="3809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高端传感芯片/核心探针部分依赖进口，基础理论积累与原创性仍需加强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0066B3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66B3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45339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微纳操作和微纳米机器人的应用现状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0066B3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30529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精密制造与柔性驱动应用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5238750" cy="5334000"/>
          </a:xfrm>
          <a:prstGeom prst="roundRect">
            <a:avLst>
              <a:gd name="adj" fmla="val 109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5238750" cy="381000"/>
          </a:xfrm>
          <a:prstGeom prst="roundRect">
            <a:avLst>
              <a:gd name="adj" fmla="val 15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23875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51093" y="1005364"/>
            <a:ext cx="14605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机械微纳加工领域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6790" y="1505902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探针纳米通道刻划仿真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7742" y="1752124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分子动力学仿真实现探针与工件原子交互可视化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742" y="19902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多尺度耦合仿真兼顾微观原子变形与宏观应力场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00125" y="2333625"/>
            <a:ext cx="4762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86790" y="25060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微纳加工试验验证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7742" y="2752249"/>
            <a:ext cx="299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国外：试验体系完备，率先实现单原子层极限刻划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7742" y="2990374"/>
            <a:ext cx="24755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国内：聚焦工程痛点，优化工艺参数组合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00125" y="3333750"/>
            <a:ext cx="4762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86790" y="35061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装配检测系统集成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7742" y="3752374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多自由度柔性执行机构，运动分辨率达纳米级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7742" y="3990499"/>
            <a:ext cx="299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攻克高精度微驱动、微力传感、姿态调控核心技术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00125" y="4381500"/>
            <a:ext cx="4762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87742" y="45619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现存问题：仿真基于理想工况假设，与工程实际偏差大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7742" y="4800124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行业痛点：试验数据标准化程度低，统一工艺标准缺失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7742" y="50858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核心短板：高端传感芯片、探针部件部分依赖进口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904875"/>
            <a:ext cx="5143500" cy="5334000"/>
          </a:xfrm>
          <a:prstGeom prst="roundRect">
            <a:avLst>
              <a:gd name="adj" fmla="val 111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904875"/>
            <a:ext cx="5143500" cy="381000"/>
          </a:xfrm>
          <a:prstGeom prst="roundRect">
            <a:avLst>
              <a:gd name="adj" fmla="val 15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1095375"/>
            <a:ext cx="5143500" cy="1905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860185" y="100536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柔性机构与精密驱动领域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11290" y="150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仿真技术突破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2242" y="175212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攻克几何、材料、接触非线性仿真难题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2242" y="199024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引入加工残余应力、装配误差、环境扰动等干扰因素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2242" y="2275999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构建"力-电-热-结构"协同仿真体系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524625" y="2619375"/>
            <a:ext cx="4762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11290" y="279177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系统结构开发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12242" y="3037999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从单自由度柔性铰链迭代至多自由度并联平台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12242" y="3276124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自主研发复合型柔性铰链、对称式柔性导向机构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524625" y="3619500"/>
            <a:ext cx="4762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511290" y="3791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精度指标体系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2242" y="4085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运动行程：毫米级 → 纳米级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12242" y="4323874"/>
            <a:ext cx="24625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定位精度：纳米级 | 力控精度：微牛顿级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524625" y="4667250"/>
            <a:ext cx="47625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512242" y="484774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现存问题：高端核心部件国产化稳定性欠缺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2242" y="5085874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技术难点：多自由度耦合驱动误差难以消除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纳米材料技术应用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2476500" cy="2095500"/>
          </a:xfrm>
          <a:prstGeom prst="roundRect">
            <a:avLst>
              <a:gd name="adj" fmla="val 272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52500"/>
            <a:ext cx="24765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48968" y="1203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结构增强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8695" y="156972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提升柔性构件抗疲劳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8695" y="17887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性能与形变稳定性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8695" y="20935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轻质高强纳米复合材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8695" y="23126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料超越传统材料极限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00125" y="2619375"/>
            <a:ext cx="2000250" cy="285750"/>
          </a:xfrm>
          <a:prstGeom prst="roundRect">
            <a:avLst>
              <a:gd name="adj" fmla="val 13333"/>
            </a:avLst>
          </a:prstGeom>
          <a:solidFill>
            <a:srgbClr val="003D7C">
              <a:alpha val="1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519464" y="2720816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高端制造·核心器件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429000" y="952500"/>
            <a:ext cx="2476500" cy="2095500"/>
          </a:xfrm>
          <a:prstGeom prst="roundRect">
            <a:avLst>
              <a:gd name="adj" fmla="val 272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429000" y="952500"/>
            <a:ext cx="24765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315968" y="1203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功能驱动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5695" y="1569720"/>
            <a:ext cx="1217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纳米压电、MXene材料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55695" y="17887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实现驱动传感一体化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55695" y="20935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柔性智能材料可实现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55695" y="2312670"/>
            <a:ext cx="1114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驱动/感知/操作一体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667125" y="2619375"/>
            <a:ext cx="2000250" cy="285750"/>
          </a:xfrm>
          <a:prstGeom prst="roundRect">
            <a:avLst>
              <a:gd name="adj" fmla="val 13333"/>
            </a:avLst>
          </a:prstGeom>
          <a:solidFill>
            <a:srgbClr val="0066B3">
              <a:alpha val="1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186464" y="2720816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自适应·智能化作业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096000" y="952500"/>
            <a:ext cx="2476500" cy="2095500"/>
          </a:xfrm>
          <a:prstGeom prst="roundRect">
            <a:avLst>
              <a:gd name="adj" fmla="val 272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096000" y="952500"/>
            <a:ext cx="24765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982968" y="1203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界面改性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22695" y="156972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优化涂层工艺降低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22695" y="17887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微尺度摩擦磨损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22695" y="2093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功能性纳米涂层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22695" y="23126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提升表面特性与生物相容性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334125" y="2619375"/>
            <a:ext cx="2000250" cy="285750"/>
          </a:xfrm>
          <a:prstGeom prst="roundRect">
            <a:avLst>
              <a:gd name="adj" fmla="val 13333"/>
            </a:avLst>
          </a:prstGeom>
          <a:solidFill>
            <a:srgbClr val="003D7C">
              <a:alpha val="1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53464" y="2720816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表面工程·生物医学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763000" y="952500"/>
            <a:ext cx="2476500" cy="2095500"/>
          </a:xfrm>
          <a:prstGeom prst="roundRect">
            <a:avLst>
              <a:gd name="adj" fmla="val 2727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763000" y="952500"/>
            <a:ext cx="24765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649968" y="1203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精准传感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89695" y="156972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多模态感知融合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989695" y="178879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力/电/磁/热多功能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89695" y="2093595"/>
            <a:ext cx="11149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实现驱动-感知-操作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989695" y="231267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一体化闭环控制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001125" y="2619375"/>
            <a:ext cx="2000250" cy="285750"/>
          </a:xfrm>
          <a:prstGeom prst="roundRect">
            <a:avLst>
              <a:gd name="adj" fmla="val 13333"/>
            </a:avLst>
          </a:prstGeom>
          <a:solidFill>
            <a:srgbClr val="0066B3">
              <a:alpha val="1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520464" y="2720816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智能传感·闭环控制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3333750"/>
            <a:ext cx="10668000" cy="171450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32510" y="35852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技术瓶颈与挑战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47750" y="3905250"/>
            <a:ext cx="4905375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225868" y="40381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高端纳米薄膜制备工艺、复杂异形结构成型精度不足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26820" y="4217670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→ 制约规模化应用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238875" y="3905250"/>
            <a:ext cx="4905375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416992" y="4038124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极端工况下材料性能衰减明显，多材料界面结合强度低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417945" y="42176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→ 影响长期服役可靠性</a:t>
            </a:r>
          </a:p>
        </p:txBody>
      </p:sp>
      <p:sp>
        <p:nvSpPr>
          <p:cNvPr id="50" name="Rectangle 50"/>
          <p:cNvSpPr/>
          <p:nvPr/>
        </p:nvSpPr>
        <p:spPr>
          <a:xfrm>
            <a:off x="1047750" y="4524375"/>
            <a:ext cx="4905375" cy="428625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225868" y="4676299"/>
            <a:ext cx="39382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材料-结构-驱动协同设计体系尚未完善，无法充分发挥纳米材料优势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238875" y="4524375"/>
            <a:ext cx="4905375" cy="428625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416992" y="467629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材料成型一致性差，性能易受微环境干扰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" y="5286375"/>
            <a:ext cx="5143500" cy="1000125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3173397" y="54587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国外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36320" y="5760720"/>
            <a:ext cx="3209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高端定制化技术优势显著，国防/航空航天领域极限性能领先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36320" y="59988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基础材料数据库完善，多尺度仿真工具链成熟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286500" y="5286375"/>
            <a:ext cx="5143500" cy="1000125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697897" y="54587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国内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560820" y="5760720"/>
            <a:ext cx="31432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工程化、产业化落地优势突出，成本控制与规模化能力领先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60820" y="5998845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应用驱动型创新活跃，场景迭代速度快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3" name="Rectangle 6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D4380D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D4380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D4380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22936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目前所面临的问题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D4380D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六大领域产业化挑战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D4380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4415" y="107727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纳米复合材料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6320" y="1331595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分散困难→团聚→强度不升反降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" y="15411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回收难题→降级使用或焚烧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429125" y="904875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429125" y="90487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D4380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701540" y="10772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半导体制造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3445" y="1331595"/>
            <a:ext cx="1289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量子隧穿→芯片漏电发热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3445" y="15411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纳米级灰尘→整片晶圆报废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96250" y="904875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8096250" y="90487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D4380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68665" y="10772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纳米涂层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0570" y="1331595"/>
            <a:ext cx="15290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耐久性差→物理强度先天不足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0570" y="1541145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维护成本高→1-2年局部失效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2381250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2381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4415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纺织行业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320" y="2807970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结合不牢→纳米颗粒"粘"而不"长"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320" y="301752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洗涤流失+环境风险+健康隐患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29125" y="2381250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429125" y="2381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701540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切削刀具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3445" y="280797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界面剥离→涂层/基体剪切应力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3445" y="3017520"/>
            <a:ext cx="16310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高温失效→1000°C再结晶/退火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2381250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096250" y="2381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8665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生物医疗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0570" y="2807970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动力供应→电池无法缩放至纳米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0570" y="301752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免疫清除+靶向识别+通信盲区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4000500"/>
            <a:ext cx="10668000" cy="952500"/>
          </a:xfrm>
          <a:prstGeom prst="roundRect">
            <a:avLst>
              <a:gd name="adj" fmla="val 6000"/>
            </a:avLst>
          </a:prstGeom>
          <a:solidFill>
            <a:srgbClr val="0B1D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27760" y="4251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共性根源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9665" y="4601528"/>
            <a:ext cx="77276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纳米级尺度下的物理极限与工程成本双重约束 | 微观性能优异但宏观环境适配困难 | 从"实验室可行"到"工厂可靠"的转化鸿沟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5191125"/>
            <a:ext cx="3333750" cy="1047750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762000" y="5191125"/>
            <a:ext cx="333375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020788" y="5403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量产成本高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36320" y="5713095"/>
            <a:ext cx="1715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高纯度原料+昂贵真空/精密设备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6320" y="59512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质控只能抽检，残次品浪费巨大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429125" y="5191125"/>
            <a:ext cx="3333750" cy="1047750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429125" y="5191125"/>
            <a:ext cx="333375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44595" y="5403056"/>
            <a:ext cx="9028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微→宏迁移难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03445" y="571309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纳米尺度完美特性在宏观环境中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703445" y="59512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极易失效，长期稳定性难以保证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96250" y="5191125"/>
            <a:ext cx="3333750" cy="1047750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096250" y="5191125"/>
            <a:ext cx="333375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276278" y="54030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检测极其困难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70570" y="571309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产线高吞吐率下无法实时检测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70570" y="5951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几纳米厚的涂层均匀性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纳米产业核心矛盾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10668000" cy="762000"/>
          </a:xfrm>
          <a:prstGeom prst="roundRect">
            <a:avLst>
              <a:gd name="adj" fmla="val 7500"/>
            </a:avLst>
          </a:prstGeom>
          <a:solidFill>
            <a:srgbClr val="0B1D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76212" y="1266825"/>
            <a:ext cx="3839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"单一技术维度创新已难以突破行业瓶颈"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00025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2000250"/>
            <a:ext cx="5143500" cy="476250"/>
          </a:xfrm>
          <a:prstGeom prst="roundRect">
            <a:avLst>
              <a:gd name="adj" fmla="val 12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2286000"/>
            <a:ext cx="514350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781991" y="217693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科学工程维度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68" y="2704624"/>
            <a:ext cx="3775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微观完美与宏观脆弱的矛盾：实验室表现惊艳，真实工况下衰减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368" y="2990374"/>
            <a:ext cx="299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长期稳定性与高性价比量产是必须跨越的核心鸿沟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368" y="3276124"/>
            <a:ext cx="23585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材料-结构-驱动协同设计体系尚未完善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368" y="3561874"/>
            <a:ext cx="24755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多场耦合、尺度适配等基础科学问题未解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200025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286500" y="2000250"/>
            <a:ext cx="5143500" cy="476250"/>
          </a:xfrm>
          <a:prstGeom prst="roundRect">
            <a:avLst>
              <a:gd name="adj" fmla="val 12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2286000"/>
            <a:ext cx="5143500" cy="1905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06491" y="217693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生态健康维度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9868" y="2704624"/>
            <a:ext cx="35287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纳米毒理学数据匮乏：自然循环/食物链/长期滞留机制不明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59868" y="2990374"/>
            <a:ext cx="35157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新型环境污染：纳米产品普及对微生物生态系统不可逆破坏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59868" y="3276124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纳米银等杀菌材料进入水体后破坏生态平衡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9868" y="3561874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极微小颗粒可穿透皮肤毛囊进入人体循环系统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419100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62000" y="4191000"/>
            <a:ext cx="5143500" cy="476250"/>
          </a:xfrm>
          <a:prstGeom prst="roundRect">
            <a:avLst>
              <a:gd name="adj" fmla="val 12000"/>
            </a:avLst>
          </a:prstGeom>
          <a:solidFill>
            <a:srgbClr val="D4380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4476750"/>
            <a:ext cx="5143500" cy="190500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781991" y="43676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社会伦理维度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5368" y="4895374"/>
            <a:ext cx="27486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技术"平权"：高端纳米医疗可能固化阶级鸿沟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5368" y="5181124"/>
            <a:ext cx="2332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"超人类" vs "自然人"的伦理边界模糊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5368" y="5466874"/>
            <a:ext cx="3457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安全/武器化风险：纳米技术可制造隐蔽性极强的生化武器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5368" y="5752624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隐私风险：纳米传感器网络的大规模监控能力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419100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0B1D3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274034" y="44738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发展路径建议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57962" y="492680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❶ 同步推进智能纳米安全监管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57962" y="521255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❷ 加强纳米毒理学基础研究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57962" y="549830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❸ 出台全球统一的纳米分级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00838" y="57364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管控标准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0066B3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66B3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第五章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20135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展望与思考总结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0066B3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未来三大突破方向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333750" cy="352425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3333750" cy="476250"/>
          </a:xfrm>
          <a:prstGeom prst="roundRect">
            <a:avLst>
              <a:gd name="adj" fmla="val 12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190625"/>
            <a:ext cx="333375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33683" y="10734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精准医疗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2992" y="1656874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智能靶向给药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3945" y="190309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识别特定癌细胞标志物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3945" y="2112645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实现"零副作用"治愈癌症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95375" y="2428875"/>
            <a:ext cx="276225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82992" y="25617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体内实时监测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3945" y="280797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纳米传感器网络在发病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3945" y="30175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前数月甚至数秒内预警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95375" y="3333750"/>
            <a:ext cx="276225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82992" y="3466624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人工器官与组织工程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3945" y="3712845"/>
            <a:ext cx="994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纳米级3D打印模拟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3945" y="39223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人体细胞外基质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429125" y="904875"/>
            <a:ext cx="3333750" cy="352425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429125" y="904875"/>
            <a:ext cx="3333750" cy="476250"/>
          </a:xfrm>
          <a:prstGeom prst="roundRect">
            <a:avLst>
              <a:gd name="adj" fmla="val 12000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429125" y="1190625"/>
            <a:ext cx="3333750" cy="1905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417272" y="10734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清洁能源与环境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0118" y="1656874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下一代高效能源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51070" y="190309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太阳能电池光电转换效率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51070" y="21126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突破现有理论极限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0" y="2428875"/>
            <a:ext cx="276225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750118" y="25617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分子级环境治理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51070" y="280797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纳米催化剂分解塑料微粒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51070" y="301752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吸附重金属、捕集CO2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762500" y="3333750"/>
            <a:ext cx="276225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750118" y="3466624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66B3"/>
                </a:solidFill>
                <a:latin typeface="Microsoft YaHei"/>
                <a:ea typeface="Microsoft YaHei"/>
                <a:cs typeface="Microsoft YaHei"/>
              </a:rPr>
              <a:t>碳中和纳米技术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51070" y="37128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新型碳捕集纳米材料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51070" y="39223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助力全球碳中和目标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904875"/>
            <a:ext cx="3333750" cy="352425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96250" y="904875"/>
            <a:ext cx="3333750" cy="476250"/>
          </a:xfrm>
          <a:prstGeom prst="roundRect">
            <a:avLst>
              <a:gd name="adj" fmla="val 12000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8096250" y="1190625"/>
            <a:ext cx="3333750" cy="1905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895374" y="10734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信息技术与人机融合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7242" y="1656874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超越摩尔定律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8195" y="19030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基于二维纳米材料的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8195" y="21126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光子芯片或量子芯片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429625" y="2428875"/>
            <a:ext cx="276225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17242" y="25617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微观脑机接口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18195" y="280797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纳米电极穿过血脑屏障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18195" y="30175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高分辨率神经信号读写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429625" y="3333750"/>
            <a:ext cx="276225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417242" y="346662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量子-纳米混合计算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8195" y="37128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纳米结构与量子比特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18195" y="39223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深度融合计算架构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" y="4762500"/>
            <a:ext cx="10668000" cy="1619250"/>
          </a:xfrm>
          <a:prstGeom prst="roundRect">
            <a:avLst>
              <a:gd name="adj" fmla="val 3529"/>
            </a:avLst>
          </a:prstGeom>
          <a:solidFill>
            <a:srgbClr val="0B1D3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700808" y="5045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9665" y="5458778"/>
            <a:ext cx="43042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构建"材料改性 — 结构优化 — 精密制造 — 精准驱动"一体化研发体系，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9665" y="5744528"/>
            <a:ext cx="53473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攻克尺度适配、多场耦合、生物兼容等关键难题，是推动纳米机器人规模化工程应用、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9665" y="6030278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实现纳米技术可持续健康发展的核心路径。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风险治理与发展路线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333750" cy="238125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3333750" cy="47625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09572" y="1156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科学工程风险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742" y="15616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微观完美与宏观脆弱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742" y="184737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长期稳定性难以保证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7742" y="213312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高性价比量产难以实现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742" y="241887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基础理论体系尚不完善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7742" y="2704624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多场耦合问题未根本解决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429125" y="904875"/>
            <a:ext cx="3333750" cy="238125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429125" y="904875"/>
            <a:ext cx="3333750" cy="47625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76697" y="1156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生态健康风险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4868" y="1561624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纳米毒理学数据严重匮乏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54868" y="184737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食物链富集机制不明确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4868" y="213312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长期慢性毒性未知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4868" y="2418874"/>
            <a:ext cx="16954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微生物生态系统不可逆破坏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4868" y="270462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纳米颗粒人体穿透风险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904875"/>
            <a:ext cx="3333750" cy="238125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96250" y="904875"/>
            <a:ext cx="3333750" cy="47625"/>
          </a:xfrm>
          <a:prstGeom prst="rect">
            <a:avLst/>
          </a:prstGeom>
          <a:solidFill>
            <a:srgbClr val="D4380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243822" y="1156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4380D"/>
                </a:solidFill>
                <a:latin typeface="Microsoft YaHei"/>
                <a:ea typeface="Microsoft YaHei"/>
                <a:cs typeface="Microsoft YaHei"/>
              </a:rPr>
              <a:t>社会伦理风险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21992" y="156162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技术"平权"与阶级固化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21992" y="184737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人与自然的定义边界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21992" y="2133124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生化武器化风险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21992" y="2418874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大规模隐私监控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1992" y="27046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监管滞后于技术发展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3571875"/>
            <a:ext cx="10668000" cy="1524000"/>
          </a:xfrm>
          <a:prstGeom prst="roundRect">
            <a:avLst>
              <a:gd name="adj" fmla="val 3750"/>
            </a:avLst>
          </a:prstGeom>
          <a:solidFill>
            <a:srgbClr val="0B1D3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6296" y="38071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发展路线图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47750" y="4191000"/>
            <a:ext cx="3048000" cy="666750"/>
          </a:xfrm>
          <a:prstGeom prst="roundRect">
            <a:avLst>
              <a:gd name="adj" fmla="val 5714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076930" y="4363402"/>
            <a:ext cx="9896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近期（5年内）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00238" y="46177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ABBCC"/>
                </a:solidFill>
                <a:latin typeface="Microsoft YaHei"/>
                <a:ea typeface="Microsoft YaHei"/>
                <a:cs typeface="Microsoft YaHei"/>
              </a:rPr>
              <a:t>完善纳米毒理学基础研究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7943" y="43148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66B3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48250" y="4191000"/>
            <a:ext cx="3048000" cy="666750"/>
          </a:xfrm>
          <a:prstGeom prst="roundRect">
            <a:avLst>
              <a:gd name="adj" fmla="val 5714"/>
            </a:avLst>
          </a:prstGeom>
          <a:solidFill>
            <a:srgbClr val="0066B3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029649" y="4363402"/>
            <a:ext cx="1085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中期（5-10年）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40730" y="46177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ABBCC"/>
                </a:solidFill>
                <a:latin typeface="Microsoft YaHei"/>
                <a:ea typeface="Microsoft YaHei"/>
                <a:cs typeface="Microsoft YaHei"/>
              </a:rPr>
              <a:t>建立全球统一伦理监管框架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98443" y="43148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66B3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048750" y="4191000"/>
            <a:ext cx="2095500" cy="666750"/>
          </a:xfrm>
          <a:prstGeom prst="roundRect">
            <a:avLst>
              <a:gd name="adj" fmla="val 5714"/>
            </a:avLst>
          </a:prstGeom>
          <a:solidFill>
            <a:srgbClr val="003D7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594329" y="4363402"/>
            <a:ext cx="1004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远期（10年+）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45002" y="461772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ABBCC"/>
                </a:solidFill>
                <a:latin typeface="Microsoft YaHei"/>
                <a:ea typeface="Microsoft YaHei"/>
                <a:cs typeface="Microsoft YaHei"/>
              </a:rPr>
              <a:t>技术与安全协调发展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62000" y="5334000"/>
            <a:ext cx="10668000" cy="104775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762000" y="5334000"/>
            <a:ext cx="10668000" cy="3810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700808" y="556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D7C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66373" y="5926931"/>
            <a:ext cx="54592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纳米技术与纳米机器人的工程化落地必须走"技术攻关"与"安全保障"双轮驱动之路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66E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E0E4E8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714750" y="2667000"/>
            <a:ext cx="4762500" cy="1905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601880" y="2975610"/>
            <a:ext cx="298824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6" name="Rectangle 6"/>
          <p:cNvSpPr/>
          <p:nvPr/>
        </p:nvSpPr>
        <p:spPr>
          <a:xfrm>
            <a:off x="3714750" y="4000500"/>
            <a:ext cx="4762500" cy="19050"/>
          </a:xfrm>
          <a:prstGeom prst="rect">
            <a:avLst/>
          </a:prstGeom>
          <a:solidFill>
            <a:srgbClr val="0066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068419" y="45843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感谢聆听 · 欢迎指正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88648" y="5109210"/>
            <a:ext cx="18147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6688"/>
                </a:solidFill>
                <a:latin typeface="Microsoft YaHei"/>
                <a:ea typeface="Microsoft YaHei"/>
                <a:cs typeface="Microsoft YaHei"/>
              </a:rPr>
              <a:t>天津大学 · 机械工程学院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03D7C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2026-06-19T15:25:05Z</dcterms:created>
  <dcterms:modified xsi:type="dcterms:W3CDTF">2026-06-19T15:25:05Z</dcterms:modified>
  <cp:category/>
  <cp:contentStatus/>
</cp:coreProperties>
</file>