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225e4198f9f006.png"/>
  <Relationship Id="rId3" Type="http://schemas.openxmlformats.org/officeDocument/2006/relationships/image" Target="../media/image_5fef79ecaa3219b2.png"/>
  <Relationship Id="rId4" Type="http://schemas.openxmlformats.org/officeDocument/2006/relationships/image" Target="../media/image_531471bbd68fdee0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ecd0967d76e85d6.png"/>
  <Relationship Id="rId3" Type="http://schemas.openxmlformats.org/officeDocument/2006/relationships/image" Target="../media/image_3ad2b7ce20bc9dc4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db8db267dd32157.png"/>
  <Relationship Id="rId3" Type="http://schemas.openxmlformats.org/officeDocument/2006/relationships/image" Target="../media/image_0216e21395c5d008.png"/>
  <Relationship Id="rId4" Type="http://schemas.openxmlformats.org/officeDocument/2006/relationships/image" Target="../media/image_0abb1855ba36cace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f552683d0768985.png"/>
  <Relationship Id="rId3" Type="http://schemas.openxmlformats.org/officeDocument/2006/relationships/image" Target="../media/image_9611f1a454a45a4c.png"/>
  <Relationship Id="rId4" Type="http://schemas.openxmlformats.org/officeDocument/2006/relationships/image" Target="../media/image_801e28435024e48b.png"/>
  <Relationship Id="rId5" Type="http://schemas.openxmlformats.org/officeDocument/2006/relationships/image" Target="../media/image_7b154a9ec02bf27d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f25fe479c92245.png"/>
  <Relationship Id="rId3" Type="http://schemas.openxmlformats.org/officeDocument/2006/relationships/image" Target="../media/image_ed51ad94b8b78366.png"/>
  <Relationship Id="rId4" Type="http://schemas.openxmlformats.org/officeDocument/2006/relationships/image" Target="../media/image_78a02859f602dda2.png"/>
  <Relationship Id="rId5" Type="http://schemas.openxmlformats.org/officeDocument/2006/relationships/image" Target="../media/image_6a85ede45ae6bd0c.png"/>
  <Relationship Id="rId6" Type="http://schemas.openxmlformats.org/officeDocument/2006/relationships/image" Target="../media/image_673b3b7ce2e9343a.png"/>
  <Relationship Id="rId7" Type="http://schemas.openxmlformats.org/officeDocument/2006/relationships/image" Target="../media/image_2e4c299182755cdd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4011c208ecb171a.png"/>
  <Relationship Id="rId3" Type="http://schemas.openxmlformats.org/officeDocument/2006/relationships/image" Target="../media/image_5f552683d0768985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bda31a039aa4a2a.pn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dde4a752ca9d1bf.png"/>
  <Relationship Id="rId3" Type="http://schemas.openxmlformats.org/officeDocument/2006/relationships/image" Target="../media/image_5513ba19d0983456.png"/>
  <Relationship Id="rId4" Type="http://schemas.openxmlformats.org/officeDocument/2006/relationships/image" Target="../media/image_55afbc8b8376bc91.png"/>
  <Relationship Id="rId5" Type="http://schemas.openxmlformats.org/officeDocument/2006/relationships/image" Target="../media/image_db1625d4ea38d39d.pn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cf01da00575115.png"/>
  <Relationship Id="rId3" Type="http://schemas.openxmlformats.org/officeDocument/2006/relationships/image" Target="../media/image_9a322236d0308158.png"/>
  <Relationship Id="rId4" Type="http://schemas.openxmlformats.org/officeDocument/2006/relationships/image" Target="../media/image_158f6a4a80ec59df.png"/>
  <Relationship Id="rId5" Type="http://schemas.openxmlformats.org/officeDocument/2006/relationships/image" Target="../media/image_1d698763a1794c79.pn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6e70e58d9698b48.png"/>
  <Relationship Id="rId3" Type="http://schemas.openxmlformats.org/officeDocument/2006/relationships/image" Target="../media/image_d19fbf94ff7f731d.png"/>
  <Relationship Id="rId4" Type="http://schemas.openxmlformats.org/officeDocument/2006/relationships/image" Target="../media/image_9dfc4a0fdfc66c58.png"/>
  <Relationship Id="rId5" Type="http://schemas.openxmlformats.org/officeDocument/2006/relationships/image" Target="../media/image_d5fbab6c3cfaf178.png"/>
  <Relationship Id="rId6" Type="http://schemas.openxmlformats.org/officeDocument/2006/relationships/image" Target="../media/image_d9becacc751d983a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f552683d0768985.png"/>
  <Relationship Id="rId3" Type="http://schemas.openxmlformats.org/officeDocument/2006/relationships/image" Target="../media/image_d0c483591a1841a9.png"/>
  <Relationship Id="rId4" Type="http://schemas.openxmlformats.org/officeDocument/2006/relationships/image" Target="../media/image_8c716c703e5818b6.png"/>
  <Relationship Id="rId5" Type="http://schemas.openxmlformats.org/officeDocument/2006/relationships/image" Target="../media/image_e070cb0947e4b559.png"/>
  <Relationship Id="rId6" Type="http://schemas.openxmlformats.org/officeDocument/2006/relationships/image" Target="../media/image_6607d98425dd9c81.png"/>
  <Relationship Id="rId7" Type="http://schemas.openxmlformats.org/officeDocument/2006/relationships/image" Target="../media/image_566d641e45bd2d95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2729f266854925.png"/>
  <Relationship Id="rId3" Type="http://schemas.openxmlformats.org/officeDocument/2006/relationships/image" Target="../media/image_9aa33852a37e003b.png"/>
  <Relationship Id="rId4" Type="http://schemas.openxmlformats.org/officeDocument/2006/relationships/image" Target="../media/image_6566645aa7656450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E17"/>
              </a:gs>
              <a:gs pos="100000">
                <a:srgbClr val="13192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143000" y="1714500"/>
            <a:ext cx="38100" cy="3429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524000" y="2476500"/>
            <a:ext cx="2667000" cy="19050"/>
          </a:xfrm>
          <a:prstGeom prst="roundRect">
            <a:avLst>
              <a:gd name="adj" fmla="val 50000"/>
            </a:avLst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524000" y="4572000"/>
            <a:ext cx="1905000" cy="19050"/>
          </a:xfrm>
          <a:prstGeom prst="roundRect">
            <a:avLst>
              <a:gd name="adj" fmla="val 50000"/>
            </a:avLst>
          </a:prstGeom>
          <a:solidFill>
            <a:srgbClr val="3B82F6">
              <a:alpha val="3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78280" y="2849880"/>
            <a:ext cx="563613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纳米技术及纳米机器人的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8280" y="3516630"/>
            <a:ext cx="261175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应用和现状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855" y="49977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汇报人：马锦龙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459105"/>
            <a:ext cx="7296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 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131926"/>
          </a:solidFill>
          <a:ln w="9525">
            <a:solidFill>
              <a:srgbClr val="1E293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99160" y="1642110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381250"/>
            <a:ext cx="571500" cy="2857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31545" y="286988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研究背景与发展历程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123825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131926"/>
          </a:solidFill>
          <a:ln w="9525">
            <a:solidFill>
              <a:srgbClr val="1E293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614160" y="1642110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0" y="2381250"/>
            <a:ext cx="571500" cy="2857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646545" y="286988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微纳操作技术应用现状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400050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131926"/>
          </a:solidFill>
          <a:ln w="9525">
            <a:solidFill>
              <a:srgbClr val="1E29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99160" y="4404360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5143500"/>
            <a:ext cx="571500" cy="2857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1545" y="5632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当前面临的核心问题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400050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131926"/>
          </a:solidFill>
          <a:ln w="9525">
            <a:solidFill>
              <a:srgbClr val="1E293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14160" y="4404360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0" y="5143500"/>
            <a:ext cx="571500" cy="2857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46545" y="5632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未来展望与深度思考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28700" y="28384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3B82F6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33528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Rectangle 5"/>
          <p:cNvSpPr/>
          <p:nvPr/>
        </p:nvSpPr>
        <p:spPr>
          <a:xfrm>
            <a:off x="3619500" y="2476500"/>
            <a:ext cx="28575" cy="19050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50995" y="3279458"/>
            <a:ext cx="404950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研究背景与发展历程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4953000"/>
            <a:ext cx="7620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微纳技术三大发展阶段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45921" y="99012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20世纪60-90年代初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0105" y="1425892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理论萌芽与静态操控阶段</a:t>
            </a:r>
          </a:p>
        </p:txBody>
      </p:sp>
      <p:sp>
        <p:nvSpPr>
          <p:cNvPr id="11" name="Ellipse 11"/>
          <p:cNvSpPr/>
          <p:nvPr/>
        </p:nvSpPr>
        <p:spPr>
          <a:xfrm>
            <a:off x="723900" y="1962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2492" y="1942624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1959年费曼提出微观机械构想</a:t>
            </a:r>
          </a:p>
        </p:txBody>
      </p:sp>
      <p:sp>
        <p:nvSpPr>
          <p:cNvPr id="13" name="Ellipse 13"/>
          <p:cNvSpPr/>
          <p:nvPr/>
        </p:nvSpPr>
        <p:spPr>
          <a:xfrm>
            <a:off x="723900" y="2343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92492" y="232362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开启微纳尺度工程研究先河</a:t>
            </a:r>
          </a:p>
        </p:txBody>
      </p:sp>
      <p:sp>
        <p:nvSpPr>
          <p:cNvPr id="15" name="Ellipse 15"/>
          <p:cNvSpPr/>
          <p:nvPr/>
        </p:nvSpPr>
        <p:spPr>
          <a:xfrm>
            <a:off x="723900" y="2724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92492" y="27046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精密制造仅能完成微米级简易结构</a:t>
            </a:r>
          </a:p>
        </p:txBody>
      </p:sp>
      <p:sp>
        <p:nvSpPr>
          <p:cNvPr id="17" name="Ellipse 17"/>
          <p:cNvSpPr/>
          <p:nvPr/>
        </p:nvSpPr>
        <p:spPr>
          <a:xfrm>
            <a:off x="723900" y="3105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2492" y="308562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工艺精度不足，依赖人工辅助</a:t>
            </a: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2"/>
          <a:srcRect l="0" t="22727" r="0" b="22727"/>
          <a:stretch>
            <a:fillRect/>
          </a:stretch>
        </p:blipFill>
        <p:spPr>
          <a:xfrm>
            <a:off x="762000" y="3429000"/>
            <a:ext cx="3143250" cy="1714500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4333875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33875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78279" y="99012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20世纪90年代-21世纪初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2480" y="1425892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结构成型与主动驱动阶段</a:t>
            </a:r>
          </a:p>
        </p:txBody>
      </p:sp>
      <p:sp>
        <p:nvSpPr>
          <p:cNvPr id="25" name="Ellipse 25"/>
          <p:cNvSpPr/>
          <p:nvPr/>
        </p:nvSpPr>
        <p:spPr>
          <a:xfrm>
            <a:off x="4486275" y="1962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654868" y="19426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高精度光刻、微蚀刻、激光微加工</a:t>
            </a:r>
          </a:p>
        </p:txBody>
      </p:sp>
      <p:sp>
        <p:nvSpPr>
          <p:cNvPr id="27" name="Ellipse 27"/>
          <p:cNvSpPr/>
          <p:nvPr/>
        </p:nvSpPr>
        <p:spPr>
          <a:xfrm>
            <a:off x="4486275" y="2343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54868" y="232362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柔性机构设计理念首次落地</a:t>
            </a:r>
          </a:p>
        </p:txBody>
      </p:sp>
      <p:sp>
        <p:nvSpPr>
          <p:cNvPr id="29" name="Ellipse 29"/>
          <p:cNvSpPr/>
          <p:nvPr/>
        </p:nvSpPr>
        <p:spPr>
          <a:xfrm>
            <a:off x="4486275" y="2724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654868" y="270462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规避刚性结构作业冲击问题</a:t>
            </a:r>
          </a:p>
        </p:txBody>
      </p:sp>
      <p:sp>
        <p:nvSpPr>
          <p:cNvPr id="31" name="Ellipse 31"/>
          <p:cNvSpPr/>
          <p:nvPr/>
        </p:nvSpPr>
        <p:spPr>
          <a:xfrm>
            <a:off x="4486275" y="3105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54868" y="30856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压电、静电驱动实现纳米级分辨率</a:t>
            </a:r>
          </a:p>
        </p:txBody>
      </p:sp>
      <p:pic>
        <p:nvPicPr>
          <p:cNvPr id="33" name="Image 33"/>
          <p:cNvPicPr>
            <a:picLocks noChangeAspect="1"/>
          </p:cNvPicPr>
          <p:nvPr/>
        </p:nvPicPr>
        <p:blipFill>
          <a:blip r:embed="rId3"/>
          <a:srcRect l="0" t="22727" r="0" b="22727"/>
          <a:stretch>
            <a:fillRect/>
          </a:stretch>
        </p:blipFill>
        <p:spPr>
          <a:xfrm>
            <a:off x="4524375" y="3429000"/>
            <a:ext cx="3143250" cy="1714500"/>
          </a:xfrm>
          <a:prstGeom prst="rect">
            <a:avLst/>
          </a:prstGeom>
        </p:spPr>
      </p:pic>
      <p:sp>
        <p:nvSpPr>
          <p:cNvPr id="34" name="Rectangle 34"/>
          <p:cNvSpPr/>
          <p:nvPr/>
        </p:nvSpPr>
        <p:spPr>
          <a:xfrm>
            <a:off x="809625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09625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12926" y="990124"/>
            <a:ext cx="10908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21世纪10年代至今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64855" y="1425892"/>
            <a:ext cx="23025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智能融合与多功能集成阶段</a:t>
            </a:r>
          </a:p>
        </p:txBody>
      </p:sp>
      <p:sp>
        <p:nvSpPr>
          <p:cNvPr id="39" name="Ellipse 39"/>
          <p:cNvSpPr/>
          <p:nvPr/>
        </p:nvSpPr>
        <p:spPr>
          <a:xfrm>
            <a:off x="8248650" y="1962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17242" y="1942624"/>
            <a:ext cx="19880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微纳3D打印、异质材料一体化加工</a:t>
            </a:r>
          </a:p>
        </p:txBody>
      </p:sp>
      <p:sp>
        <p:nvSpPr>
          <p:cNvPr id="41" name="Ellipse 41"/>
          <p:cNvSpPr/>
          <p:nvPr/>
        </p:nvSpPr>
        <p:spPr>
          <a:xfrm>
            <a:off x="8248650" y="2343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417242" y="23236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机器视觉与智能算法融入</a:t>
            </a:r>
          </a:p>
        </p:txBody>
      </p:sp>
      <p:sp>
        <p:nvSpPr>
          <p:cNvPr id="43" name="Ellipse 43"/>
          <p:cNvSpPr/>
          <p:nvPr/>
        </p:nvSpPr>
        <p:spPr>
          <a:xfrm>
            <a:off x="8248650" y="2724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17242" y="27046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赋予机器人环境感知能力</a:t>
            </a:r>
          </a:p>
        </p:txBody>
      </p:sp>
      <p:sp>
        <p:nvSpPr>
          <p:cNvPr id="45" name="Ellipse 45"/>
          <p:cNvSpPr/>
          <p:nvPr/>
        </p:nvSpPr>
        <p:spPr>
          <a:xfrm>
            <a:off x="8248650" y="310515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17242" y="30856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石墨烯、智能水凝胶成核心赋能</a:t>
            </a:r>
          </a:p>
        </p:txBody>
      </p:sp>
      <p:pic>
        <p:nvPicPr>
          <p:cNvPr id="47" name="Image 47"/>
          <p:cNvPicPr>
            <a:picLocks noChangeAspect="1"/>
          </p:cNvPicPr>
          <p:nvPr/>
        </p:nvPicPr>
        <p:blipFill>
          <a:blip r:embed="rId4"/>
          <a:srcRect l="0" t="26136" r="0" b="26136"/>
          <a:stretch>
            <a:fillRect/>
          </a:stretch>
        </p:blipFill>
        <p:spPr>
          <a:xfrm>
            <a:off x="8286750" y="3429000"/>
            <a:ext cx="3143250" cy="17145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国内外研究现状对比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238750" cy="3619500"/>
          </a:xfrm>
          <a:prstGeom prst="roundRect">
            <a:avLst>
              <a:gd name="adj" fmla="val 1579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238750" cy="40005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66800"/>
            <a:ext cx="52387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39116" y="9767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国外研究优势</a:t>
            </a:r>
          </a:p>
        </p:txBody>
      </p:sp>
      <p:sp>
        <p:nvSpPr>
          <p:cNvPr id="10" name="Ellipse 10"/>
          <p:cNvSpPr/>
          <p:nvPr/>
        </p:nvSpPr>
        <p:spPr>
          <a:xfrm>
            <a:off x="809625" y="1476375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4415" y="136302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基础理论深厚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" y="1598295"/>
            <a:ext cx="1943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率先建立微纳柔顺机构核心设计理论</a:t>
            </a:r>
          </a:p>
        </p:txBody>
      </p:sp>
      <p:sp>
        <p:nvSpPr>
          <p:cNvPr id="13" name="Ellipse 13"/>
          <p:cNvSpPr/>
          <p:nvPr/>
        </p:nvSpPr>
        <p:spPr>
          <a:xfrm>
            <a:off x="809625" y="2000250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34415" y="1886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原创技术密集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2122170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伪刚体模型、拓扑优化等经典方法由欧美团队提出</a:t>
            </a:r>
          </a:p>
        </p:txBody>
      </p:sp>
      <p:sp>
        <p:nvSpPr>
          <p:cNvPr id="16" name="Ellipse 16"/>
          <p:cNvSpPr/>
          <p:nvPr/>
        </p:nvSpPr>
        <p:spPr>
          <a:xfrm>
            <a:off x="809625" y="2524125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34415" y="241077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核心器件领先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46045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高性能压电、磁致伸缩微驱动器件具备纳米级分辨率</a:t>
            </a: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2"/>
          <a:srcRect l="0" t="38782" r="0" b="38782"/>
          <a:stretch>
            <a:fillRect/>
          </a:stretch>
        </p:blipFill>
        <p:spPr>
          <a:xfrm>
            <a:off x="952500" y="2952750"/>
            <a:ext cx="4572000" cy="1333500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6191250" y="857250"/>
            <a:ext cx="5429250" cy="3619500"/>
          </a:xfrm>
          <a:prstGeom prst="roundRect">
            <a:avLst>
              <a:gd name="adj" fmla="val 1579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191250" y="857250"/>
            <a:ext cx="5429250" cy="40005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191250" y="1066800"/>
            <a:ext cx="5429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54116" y="9767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国内研究特色</a:t>
            </a:r>
          </a:p>
        </p:txBody>
      </p:sp>
      <p:sp>
        <p:nvSpPr>
          <p:cNvPr id="24" name="Ellipse 24"/>
          <p:cNvSpPr/>
          <p:nvPr/>
        </p:nvSpPr>
        <p:spPr>
          <a:xfrm>
            <a:off x="6429375" y="1476375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54165" y="136302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工程化适配强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6070" y="1598295"/>
            <a:ext cx="290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突破微构件残余应力控制、批量加工一致性等行业难题</a:t>
            </a:r>
          </a:p>
        </p:txBody>
      </p:sp>
      <p:sp>
        <p:nvSpPr>
          <p:cNvPr id="27" name="Ellipse 27"/>
          <p:cNvSpPr/>
          <p:nvPr/>
        </p:nvSpPr>
        <p:spPr>
          <a:xfrm>
            <a:off x="6429375" y="2000250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4165" y="1886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装备自研能力突出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6070" y="212217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国产微纳加工装备实现纳米级表面精度控制</a:t>
            </a:r>
          </a:p>
        </p:txBody>
      </p:sp>
      <p:sp>
        <p:nvSpPr>
          <p:cNvPr id="30" name="Ellipse 30"/>
          <p:cNvSpPr/>
          <p:nvPr/>
        </p:nvSpPr>
        <p:spPr>
          <a:xfrm>
            <a:off x="6429375" y="2524125"/>
            <a:ext cx="95250" cy="952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4165" y="24107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场景化应用迭代迅速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6070" y="264604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智能控制、自主规划、多机协同等领域优势明显</a:t>
            </a:r>
          </a:p>
        </p:txBody>
      </p:sp>
      <p:pic>
        <p:nvPicPr>
          <p:cNvPr id="33" name="Image 33"/>
          <p:cNvPicPr>
            <a:picLocks noChangeAspect="1"/>
          </p:cNvPicPr>
          <p:nvPr/>
        </p:nvPicPr>
        <p:blipFill>
          <a:blip r:embed="rId3"/>
          <a:srcRect l="0" t="36000" r="0" b="36000"/>
          <a:stretch>
            <a:fillRect/>
          </a:stretch>
        </p:blipFill>
        <p:spPr>
          <a:xfrm>
            <a:off x="6572250" y="2952750"/>
            <a:ext cx="4762500" cy="1333500"/>
          </a:xfrm>
          <a:prstGeom prst="rect">
            <a:avLst/>
          </a:prstGeom>
        </p:spPr>
      </p:pic>
      <p:sp>
        <p:nvSpPr>
          <p:cNvPr id="34" name="Rectangle 34"/>
          <p:cNvSpPr/>
          <p:nvPr/>
        </p:nvSpPr>
        <p:spPr>
          <a:xfrm>
            <a:off x="571500" y="4714875"/>
            <a:ext cx="11049000" cy="1666875"/>
          </a:xfrm>
          <a:prstGeom prst="roundRect">
            <a:avLst>
              <a:gd name="adj" fmla="val 3429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4714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37260" y="4918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共性技术瓶颈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0118" y="5228749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材料-结构-驱动协同设计体系不完善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0118" y="551449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柔性微机构承载能力与稳定性矛盾突出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0118" y="5800249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纳米材料成型一致性、界面结合强度偏低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28700" y="28384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3B82F6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33528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Rectangle 5"/>
          <p:cNvSpPr/>
          <p:nvPr/>
        </p:nvSpPr>
        <p:spPr>
          <a:xfrm>
            <a:off x="3619500" y="2476500"/>
            <a:ext cx="28575" cy="19050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50995" y="3279458"/>
            <a:ext cx="44905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微纳操作技术应用现状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4953000"/>
            <a:ext cx="7620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机械制造领域应用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16700" y="973931"/>
            <a:ext cx="22338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探针针尖纳米通道刻划建模仿真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rcRect l="0" t="22727" r="0" b="22727"/>
          <a:stretch>
            <a:fillRect/>
          </a:stretch>
        </p:blipFill>
        <p:spPr>
          <a:xfrm>
            <a:off x="762000" y="1381125"/>
            <a:ext cx="3143250" cy="171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49618" y="32284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分子动力学仿真实现探针与工件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34666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原子交互过程可视化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37999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多尺度耦合仿真兼顾微观原子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4038124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变形与宏观应力场计算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381500"/>
            <a:ext cx="3143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50570" y="457009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现存问题：仿真模型基于理想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477964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工况假设，与试验偏差较大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33875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333875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451634" y="97393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微纳加工试验验证</a:t>
            </a:r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3"/>
          <a:srcRect l="0" t="22727" r="0" b="22727"/>
          <a:stretch>
            <a:fillRect/>
          </a:stretch>
        </p:blipFill>
        <p:spPr>
          <a:xfrm>
            <a:off x="4524375" y="1381125"/>
            <a:ext cx="3143250" cy="1714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11992" y="32284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国外试验体系完备，率先实现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34666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单原子层极限刻划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37999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国内试验聚焦工程痛点，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40381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优化工艺参数组合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524375" y="4381500"/>
            <a:ext cx="3143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512945" y="457009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行业痛点：试验数据标准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2945" y="47796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化程度低，统一工艺标准缺失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09625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09625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56489" y="973931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微纳装配检测系统集成</a:t>
            </a:r>
          </a:p>
        </p:txBody>
      </p:sp>
      <p:pic>
        <p:nvPicPr>
          <p:cNvPr id="34" name="Image 34"/>
          <p:cNvPicPr>
            <a:picLocks noChangeAspect="1"/>
          </p:cNvPicPr>
          <p:nvPr/>
        </p:nvPicPr>
        <p:blipFill>
          <a:blip r:embed="rId4"/>
          <a:srcRect l="0" t="26923" r="0" b="26923"/>
          <a:stretch>
            <a:fillRect/>
          </a:stretch>
        </p:blipFill>
        <p:spPr>
          <a:xfrm>
            <a:off x="8286750" y="1381125"/>
            <a:ext cx="3143250" cy="17145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8274368" y="32284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创新设计多自由度柔性执行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346662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机构，运动分辨率达纳米级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3799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攻克高精度微驱动、微力传感、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40381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姿态调控等核心技术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86750" y="4381500"/>
            <a:ext cx="3143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75320" y="45700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现存短板：高端传感芯片、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75320" y="477964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核心探针部件部分依赖进口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柔性机构与精密驱动应用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33400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5334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86741" y="9577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仿真技术突破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rcRect l="0" t="34615" r="0" b="34615"/>
          <a:stretch>
            <a:fillRect/>
          </a:stretch>
        </p:blipFill>
        <p:spPr>
          <a:xfrm>
            <a:off x="762000" y="1381125"/>
            <a:ext cx="4953000" cy="1524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49618" y="308562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攻克几何、材料、接触非线性仿真难题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3323749"/>
            <a:ext cx="33856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引入加工残余应力、装配误差、环境扰动等实际干扰因素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3561874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构建"力-电-热-结构"协同仿真体系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3799999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精准预判设备定位偏差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143375"/>
            <a:ext cx="4953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9618" y="43238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精度指标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4617720"/>
            <a:ext cx="37373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运动行程：毫米级 → 纳米级 | 定位精度：纳米级 | 力控精度：微牛顿级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953000"/>
            <a:ext cx="4953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514159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现存问题：仿真模型与真实服役工况适配性不足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857250"/>
            <a:ext cx="533400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047750"/>
            <a:ext cx="5334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01741" y="9577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系统结构开发</a:t>
            </a:r>
          </a:p>
        </p:txBody>
      </p:sp>
      <p:pic>
        <p:nvPicPr>
          <p:cNvPr id="24" name="Image 24"/>
          <p:cNvPicPr>
            <a:picLocks noChangeAspect="1"/>
          </p:cNvPicPr>
          <p:nvPr/>
        </p:nvPicPr>
        <p:blipFill>
          <a:blip r:embed="rId3"/>
          <a:srcRect l="0" t="34615" r="0" b="34615"/>
          <a:stretch>
            <a:fillRect/>
          </a:stretch>
        </p:blipFill>
        <p:spPr>
          <a:xfrm>
            <a:off x="6477000" y="1381125"/>
            <a:ext cx="4953000" cy="1524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464618" y="3085624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从单自由度柔性铰链迭代至多自由度并联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4618" y="33237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自主研发复合型柔性铰链、对称式柔性导向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356187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• 复合柔性构型 + 多维并联柔性平台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3952875"/>
            <a:ext cx="4953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64618" y="418099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国内外对比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4"/>
          <a:srcRect l="0" t="33333" r="0" b="33333"/>
          <a:stretch>
            <a:fillRect/>
          </a:stretch>
        </p:blipFill>
        <p:spPr>
          <a:xfrm>
            <a:off x="6572250" y="4429125"/>
            <a:ext cx="2286000" cy="762000"/>
          </a:xfrm>
          <a:prstGeom prst="rect">
            <a:avLst/>
          </a:prstGeom>
        </p:spPr>
      </p:pic>
      <p:pic>
        <p:nvPicPr>
          <p:cNvPr id="31" name="Image 31"/>
          <p:cNvPicPr>
            <a:picLocks noChangeAspect="1"/>
          </p:cNvPicPr>
          <p:nvPr/>
        </p:nvPicPr>
        <p:blipFill>
          <a:blip r:embed="rId5"/>
          <a:srcRect l="0" t="32609" r="0" b="32609"/>
          <a:stretch>
            <a:fillRect/>
          </a:stretch>
        </p:blipFill>
        <p:spPr>
          <a:xfrm>
            <a:off x="8953500" y="4429125"/>
            <a:ext cx="2190750" cy="762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7605712" y="4443412"/>
            <a:ext cx="2190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国外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39338" y="4443412"/>
            <a:ext cx="2190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国内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5570" y="5379720"/>
            <a:ext cx="41033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现存问题：高端核心部件国产化稳定性欠缺，多自由度耦合驱动误差难以消除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纳米材料技术应用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3524250" cy="2857500"/>
          </a:xfrm>
          <a:prstGeom prst="roundRect">
            <a:avLst>
              <a:gd name="adj" fmla="val 2000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1058" y="1052989"/>
            <a:ext cx="1282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多尺度建模仿真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rcRect l="0" t="20667" r="0" b="20667"/>
          <a:stretch>
            <a:fillRect/>
          </a:stretch>
        </p:blipFill>
        <p:spPr>
          <a:xfrm>
            <a:off x="762000" y="1381125"/>
            <a:ext cx="1428750" cy="952500"/>
          </a:xfrm>
          <a:prstGeom prst="rect">
            <a:avLst/>
          </a:prstGeom>
        </p:spPr>
      </p:pic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rcRect l="0" t="20588" r="0" b="20588"/>
          <a:stretch>
            <a:fillRect/>
          </a:stretch>
        </p:blipFill>
        <p:spPr>
          <a:xfrm>
            <a:off x="2286000" y="1381125"/>
            <a:ext cx="1619250" cy="952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50570" y="2522220"/>
            <a:ext cx="1943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分子动力学仿真精准解析材料拉伸、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7127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弯曲、界面脱粘等微观机理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998470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从单一材料线弹性仿真迭代至多材料、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31889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多场耦合多尺度仿真体系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857250"/>
            <a:ext cx="3524250" cy="2857500"/>
          </a:xfrm>
          <a:prstGeom prst="roundRect">
            <a:avLst>
              <a:gd name="adj" fmla="val 2000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03432" y="10529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四大应用体系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619625" y="1381125"/>
            <a:ext cx="1476375" cy="428625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80635" y="154257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结构增强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1381125"/>
            <a:ext cx="1476375" cy="428625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652260" y="154257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功能驱动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1905000"/>
            <a:ext cx="1476375" cy="428625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080635" y="20664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界面改性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191250" y="1905000"/>
            <a:ext cx="1476375" cy="428625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52260" y="20664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精准传感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8195" y="2617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提升柔性构件抗疲劳与形变稳定性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08195" y="2807970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纳米压电、MXene驱动传感一体化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8195" y="299847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优化涂层工艺降低微尺度磨损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8195" y="318897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实现驱动、感知、操作一体化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96250" y="857250"/>
            <a:ext cx="3524250" cy="2857500"/>
          </a:xfrm>
          <a:prstGeom prst="roundRect">
            <a:avLst>
              <a:gd name="adj" fmla="val 2000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5808" y="105298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技术瓶颈</a:t>
            </a:r>
          </a:p>
        </p:txBody>
      </p:sp>
      <p:sp>
        <p:nvSpPr>
          <p:cNvPr id="30" name="Ellipse 30"/>
          <p:cNvSpPr/>
          <p:nvPr/>
        </p:nvSpPr>
        <p:spPr>
          <a:xfrm>
            <a:off x="8343900" y="1485900"/>
            <a:ext cx="76200" cy="76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512492" y="14663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高端纳米薄膜制备工艺、复杂异形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2492" y="165687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结构成型精度不足</a:t>
            </a:r>
          </a:p>
        </p:txBody>
      </p:sp>
      <p:sp>
        <p:nvSpPr>
          <p:cNvPr id="33" name="Ellipse 33"/>
          <p:cNvSpPr/>
          <p:nvPr/>
        </p:nvSpPr>
        <p:spPr>
          <a:xfrm>
            <a:off x="8343900" y="2009775"/>
            <a:ext cx="76200" cy="76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512492" y="1990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极端工况下材料性能衰减明显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000500"/>
            <a:ext cx="11049000" cy="2381250"/>
          </a:xfrm>
          <a:prstGeom prst="roundRect">
            <a:avLst>
              <a:gd name="adj" fmla="val 2400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1058" y="424386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国内外对比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57250" y="4572000"/>
            <a:ext cx="4762500" cy="152400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066693" y="4736306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国外</a:t>
            </a:r>
          </a:p>
        </p:txBody>
      </p:sp>
      <p:pic>
        <p:nvPicPr>
          <p:cNvPr id="39" name="Image 39"/>
          <p:cNvPicPr>
            <a:picLocks noChangeAspect="1"/>
          </p:cNvPicPr>
          <p:nvPr/>
        </p:nvPicPr>
        <p:blipFill>
          <a:blip r:embed="rId4"/>
          <a:srcRect l="0" t="29273" r="0" b="29273"/>
          <a:stretch>
            <a:fillRect/>
          </a:stretch>
        </p:blipFill>
        <p:spPr>
          <a:xfrm>
            <a:off x="1047750" y="5000625"/>
            <a:ext cx="2095500" cy="904875"/>
          </a:xfrm>
          <a:prstGeom prst="rect">
            <a:avLst/>
          </a:prstGeom>
        </p:spPr>
      </p:pic>
      <p:pic>
        <p:nvPicPr>
          <p:cNvPr id="40" name="Image 40"/>
          <p:cNvPicPr>
            <a:picLocks noChangeAspect="1"/>
          </p:cNvPicPr>
          <p:nvPr/>
        </p:nvPicPr>
        <p:blipFill>
          <a:blip r:embed="rId5"/>
          <a:srcRect l="0" t="29348" r="0" b="29348"/>
          <a:stretch>
            <a:fillRect/>
          </a:stretch>
        </p:blipFill>
        <p:spPr>
          <a:xfrm>
            <a:off x="3238500" y="5000625"/>
            <a:ext cx="2190750" cy="90487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146935" y="590359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高端定制化技术优势显著，极限性能领先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191250" y="4572000"/>
            <a:ext cx="5238750" cy="152400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638818" y="4736306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</a:t>
            </a:r>
          </a:p>
        </p:txBody>
      </p:sp>
      <p:pic>
        <p:nvPicPr>
          <p:cNvPr id="44" name="Image 44"/>
          <p:cNvPicPr>
            <a:picLocks noChangeAspect="1"/>
          </p:cNvPicPr>
          <p:nvPr/>
        </p:nvPicPr>
        <p:blipFill>
          <a:blip r:embed="rId6"/>
          <a:srcRect l="0" t="32093" r="0" b="32093"/>
          <a:stretch>
            <a:fillRect/>
          </a:stretch>
        </p:blipFill>
        <p:spPr>
          <a:xfrm>
            <a:off x="6381750" y="5000625"/>
            <a:ext cx="2286000" cy="904875"/>
          </a:xfrm>
          <a:prstGeom prst="rect">
            <a:avLst/>
          </a:prstGeom>
        </p:spPr>
      </p:pic>
      <p:pic>
        <p:nvPicPr>
          <p:cNvPr id="45" name="Image 45"/>
          <p:cNvPicPr>
            <a:picLocks noChangeAspect="1"/>
          </p:cNvPicPr>
          <p:nvPr/>
        </p:nvPicPr>
        <p:blipFill>
          <a:blip r:embed="rId7"/>
          <a:srcRect l="0" t="31108" r="0" b="31108"/>
          <a:stretch>
            <a:fillRect/>
          </a:stretch>
        </p:blipFill>
        <p:spPr>
          <a:xfrm>
            <a:off x="8858250" y="5000625"/>
            <a:ext cx="2286000" cy="904875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7719060" y="590359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工程化、产业化落地优势突出，性价比高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495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28700" y="28384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3B82F6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33528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Rectangle 5"/>
          <p:cNvSpPr/>
          <p:nvPr/>
        </p:nvSpPr>
        <p:spPr>
          <a:xfrm>
            <a:off x="3619500" y="2476500"/>
            <a:ext cx="28575" cy="19050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50995" y="3279458"/>
            <a:ext cx="404950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当前面临的核心问题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4953000"/>
            <a:ext cx="7620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387200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纳米复合材料与半导体加工难题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422303" y="1084421"/>
            <a:ext cx="16323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纳米复合材料问题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rcRect l="0" t="38083" r="0" b="38083"/>
          <a:stretch>
            <a:fillRect/>
          </a:stretch>
        </p:blipFill>
        <p:spPr>
          <a:xfrm>
            <a:off x="952500" y="1476375"/>
            <a:ext cx="4572000" cy="123825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762000" y="295275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52500" y="3143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77290" y="3029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分散困难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28422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纳米颗粒表面能极高，在熔融基体中极易团聚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3952875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52500" y="414337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77290" y="40300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团聚后果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195" y="4284345"/>
            <a:ext cx="26751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结块处变成材料最脆弱的"断裂点"，强度不升反降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495300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952500" y="5143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77290" y="5030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回收难题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9195" y="528447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纳米颗粒与基体极难分离，大多只能降级使用或焚烧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37065" y="1084421"/>
            <a:ext cx="143287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半导体加工难题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3"/>
          <a:srcRect l="0" t="36458" r="0" b="36458"/>
          <a:stretch>
            <a:fillRect/>
          </a:stretch>
        </p:blipFill>
        <p:spPr>
          <a:xfrm>
            <a:off x="6667500" y="1476375"/>
            <a:ext cx="4572000" cy="123825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6477000" y="295275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667500" y="3143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892290" y="3029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物理瓶颈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94195" y="3284220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量子隧穿效应导致芯片严重漏电和发热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3952875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667500" y="414337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92290" y="40300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设备局限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4195" y="4284345"/>
            <a:ext cx="23511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ASML极紫外光刻机售价数亿美元，极度耗电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77000" y="495300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6667500" y="5143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892290" y="5030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良率挑战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4195" y="5284470"/>
            <a:ext cx="1943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微纳米级灰尘即可导致整片晶圆报废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04360" y="6570345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两大领域均面临：纳米级尺度下的物理极限与工程成本双重约束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纳米涂层与纺织领域问题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08764" y="1084421"/>
            <a:ext cx="285947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高性能纳米涂料（建材 / 船舶）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476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00125" y="1714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24915" y="160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耐久性差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6820" y="1855470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纳米涂层仅几十至几百纳米厚，物理强度先天不足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619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00125" y="2857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24915" y="2744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环境侵蚀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820" y="2998470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大风沙尘刮擦、酸雨腐蚀、紫外线照射迅速破坏微观结构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762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00125" y="4000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24915" y="3887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维护成本高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6820" y="4141470"/>
            <a:ext cx="28612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汽车纳米隐形车衣或玻璃自清洁涂层1-2年后局部失效</a:t>
            </a:r>
          </a:p>
        </p:txBody>
      </p:sp>
      <p:pic>
        <p:nvPicPr>
          <p:cNvPr id="20" name="Image 20"/>
          <p:cNvPicPr>
            <a:picLocks noChangeAspect="1"/>
          </p:cNvPicPr>
          <p:nvPr/>
        </p:nvPicPr>
        <p:blipFill>
          <a:blip r:embed="rId2"/>
          <a:srcRect l="0" t="36458" r="0" b="36458"/>
          <a:stretch>
            <a:fillRect/>
          </a:stretch>
        </p:blipFill>
        <p:spPr>
          <a:xfrm>
            <a:off x="952500" y="4953000"/>
            <a:ext cx="4572000" cy="1238250"/>
          </a:xfrm>
          <a:prstGeom prst="rect">
            <a:avLst/>
          </a:prstGeom>
        </p:spPr>
      </p:pic>
      <p:sp>
        <p:nvSpPr>
          <p:cNvPr id="21" name="Rectangle 21"/>
          <p:cNvSpPr/>
          <p:nvPr/>
        </p:nvSpPr>
        <p:spPr>
          <a:xfrm>
            <a:off x="6286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36590" y="1084421"/>
            <a:ext cx="10338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纺织服装业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1476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6715125" y="1714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939915" y="1601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结合不牢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41820" y="1855470"/>
            <a:ext cx="2075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纳米颗粒"粘"在纤维表面而非长在内部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2619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715125" y="2857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939915" y="2744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洗涤流失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1820" y="2998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洗衣机搅拌和洗衣粉化学作用下大量脱落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3762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6715125" y="4000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939915" y="3887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环境风险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1820" y="414147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纳米银进入污水系统，杀死有益细菌，破坏生态平衡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4905375"/>
            <a:ext cx="4762500" cy="952500"/>
          </a:xfrm>
          <a:prstGeom prst="roundRect">
            <a:avLst>
              <a:gd name="adj" fmla="val 4000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6715125" y="51435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939915" y="5030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健康隐患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41820" y="5284470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极微小纳米颗粒可能通过皮肤毛孔进入人体循环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机械加工与医疗领域挑战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334000" cy="2857500"/>
          </a:xfrm>
          <a:prstGeom prst="roundRect">
            <a:avLst>
              <a:gd name="adj" fmla="val 2000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21828" y="1084421"/>
            <a:ext cx="12333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机械加工刀具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52400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00125" y="176212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24915" y="16487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界面剥离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6820" y="1903095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纳米涂层与硬质合金刀基体交界处产生巨大剪切应力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57175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00125" y="280987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24915" y="26965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高温失效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820" y="2950845"/>
            <a:ext cx="2819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切削温度突破1000°C时，纳米结构发生再结晶或退火</a:t>
            </a: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2"/>
          <a:srcRect l="0" t="32400" r="0" b="32400"/>
          <a:stretch>
            <a:fillRect/>
          </a:stretch>
        </p:blipFill>
        <p:spPr>
          <a:xfrm>
            <a:off x="952500" y="3619500"/>
            <a:ext cx="1905000" cy="762000"/>
          </a:xfrm>
          <a:prstGeom prst="rect">
            <a:avLst/>
          </a:prstGeom>
        </p:spPr>
      </p:pic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rcRect l="0" t="30885" r="0" b="30885"/>
          <a:stretch>
            <a:fillRect/>
          </a:stretch>
        </p:blipFill>
        <p:spPr>
          <a:xfrm>
            <a:off x="3048000" y="3619500"/>
            <a:ext cx="2095500" cy="762000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6286500" y="857250"/>
            <a:ext cx="5334000" cy="5524500"/>
          </a:xfrm>
          <a:prstGeom prst="roundRect">
            <a:avLst>
              <a:gd name="adj" fmla="val 1071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638490" y="1084421"/>
            <a:ext cx="263001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医疗领域纳米机器人核心问题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52400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6715125" y="174307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939915" y="16297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动力供应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41820" y="1884045"/>
            <a:ext cx="3263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传统电池无法缩放至纳米体积，外部驱动信号在深层组织衰减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77000" y="2524125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715125" y="27432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939915" y="26298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流体阻力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41820" y="288417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低雷诺数环境下，血液黏稠度如同厚重蜂蜜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3524250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715125" y="3743325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939915" y="36299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靶向识别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41820" y="388429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免疫系统清除、材料毒性、代谢难题未解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77000" y="4524375"/>
            <a:ext cx="4762500" cy="857250"/>
          </a:xfrm>
          <a:prstGeom prst="roundRect">
            <a:avLst>
              <a:gd name="adj" fmla="val 4444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6715125" y="47434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939915" y="46301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通信反馈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1820" y="4884420"/>
            <a:ext cx="2075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无法安装天线或传感器，只能"半盲操"</a:t>
            </a:r>
          </a:p>
        </p:txBody>
      </p:sp>
      <p:pic>
        <p:nvPicPr>
          <p:cNvPr id="36" name="Image 36"/>
          <p:cNvPicPr>
            <a:picLocks noChangeAspect="1"/>
          </p:cNvPicPr>
          <p:nvPr/>
        </p:nvPicPr>
        <p:blipFill>
          <a:blip r:embed="rId4"/>
          <a:srcRect l="0" t="34783" r="0" b="34783"/>
          <a:stretch>
            <a:fillRect/>
          </a:stretch>
        </p:blipFill>
        <p:spPr>
          <a:xfrm>
            <a:off x="6667500" y="5524500"/>
            <a:ext cx="2190750" cy="666750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5"/>
          <a:srcRect l="0" t="35417" r="0" b="35417"/>
          <a:stretch>
            <a:fillRect/>
          </a:stretch>
        </p:blipFill>
        <p:spPr>
          <a:xfrm>
            <a:off x="8953500" y="5524500"/>
            <a:ext cx="2286000" cy="6667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三大行业痛点总结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2667000" cy="5048250"/>
          </a:xfrm>
          <a:prstGeom prst="roundRect">
            <a:avLst>
              <a:gd name="adj" fmla="val 2143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2667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09808" y="123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制造昂贵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rcRect l="0" t="20833" r="0" b="20833"/>
          <a:stretch>
            <a:fillRect/>
          </a:stretch>
        </p:blipFill>
        <p:spPr>
          <a:xfrm>
            <a:off x="762000" y="1619250"/>
            <a:ext cx="2286000" cy="1333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9618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需要极高纯度的原料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34189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昂贵的真空、精密控制设备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3704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质控成本高昂，通常只能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39428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抽检或等出厂后发现次品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429000" y="952500"/>
            <a:ext cx="2667000" cy="5048250"/>
          </a:xfrm>
          <a:prstGeom prst="roundRect">
            <a:avLst>
              <a:gd name="adj" fmla="val 2143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429000" y="952500"/>
            <a:ext cx="2667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894749" y="123539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微观完美，宏观脆弱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rcRect l="0" t="20833" r="0" b="20833"/>
          <a:stretch>
            <a:fillRect/>
          </a:stretch>
        </p:blipFill>
        <p:spPr>
          <a:xfrm>
            <a:off x="3619500" y="1619250"/>
            <a:ext cx="2286000" cy="1333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607118" y="3133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纳米尺度下完美的物理特性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07118" y="34189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在复杂宏观环境中极易失效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952500"/>
            <a:ext cx="2667000" cy="5048250"/>
          </a:xfrm>
          <a:prstGeom prst="roundRect">
            <a:avLst>
              <a:gd name="adj" fmla="val 2143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952500"/>
            <a:ext cx="2667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035784" y="1235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检测极其困难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4"/>
          <a:srcRect l="0" t="20833" r="0" b="20833"/>
          <a:stretch>
            <a:fillRect/>
          </a:stretch>
        </p:blipFill>
        <p:spPr>
          <a:xfrm>
            <a:off x="6477000" y="1619250"/>
            <a:ext cx="2286000" cy="1333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464618" y="3133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纳米尺度缺陷难以检测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144000" y="952500"/>
            <a:ext cx="2476500" cy="5048250"/>
          </a:xfrm>
          <a:prstGeom prst="roundRect">
            <a:avLst>
              <a:gd name="adj" fmla="val 2308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9144000" y="952500"/>
            <a:ext cx="24765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892546" y="12353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实时检测难</a:t>
            </a:r>
          </a:p>
        </p:txBody>
      </p:sp>
      <p:pic>
        <p:nvPicPr>
          <p:cNvPr id="28" name="Image 28"/>
          <p:cNvPicPr>
            <a:picLocks noChangeAspect="1"/>
          </p:cNvPicPr>
          <p:nvPr/>
        </p:nvPicPr>
        <p:blipFill>
          <a:blip r:embed="rId5"/>
          <a:srcRect l="0" t="22424" r="0" b="22424"/>
          <a:stretch>
            <a:fillRect/>
          </a:stretch>
        </p:blipFill>
        <p:spPr>
          <a:xfrm>
            <a:off x="9334500" y="1619250"/>
            <a:ext cx="2095500" cy="13335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322118" y="31332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工厂流水线很难实时检测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2118" y="34189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几纳米厚的涂层是否均匀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6191250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1E140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283440" y="6363652"/>
            <a:ext cx="36251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纳米产业的核心矛盾：原子级精度追求 vs 工程化成本现实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28700" y="2838450"/>
            <a:ext cx="161477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3B82F6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33528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Rectangle 5"/>
          <p:cNvSpPr/>
          <p:nvPr/>
        </p:nvSpPr>
        <p:spPr>
          <a:xfrm>
            <a:off x="3619500" y="2476500"/>
            <a:ext cx="28575" cy="19050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50995" y="3279458"/>
            <a:ext cx="404950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未来展望与深度思考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4953000"/>
            <a:ext cx="7620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纳米技术的核心价值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5334000" cy="2571750"/>
          </a:xfrm>
          <a:prstGeom prst="roundRect">
            <a:avLst>
              <a:gd name="adj" fmla="val 22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21828" y="1084421"/>
            <a:ext cx="12333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核心价值体现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7260" y="1537335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当材料被浓缩至纳米尺度，量子效应占据主导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" y="1839278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展现出宏观状态下完全不具备的独特性质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2238375"/>
            <a:ext cx="219075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03509" y="2450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结构与性能的飞跃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274" y="286369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极高强度、极强催化活性、优异导电隔热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429000" y="2238375"/>
            <a:ext cx="2286000" cy="9525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06394" y="2450306"/>
            <a:ext cx="11312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多学科深度交叉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61385" y="2863691"/>
            <a:ext cx="22212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物理、化学、生物、微电子和材料科学的交汇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857250"/>
            <a:ext cx="5334000" cy="2571750"/>
          </a:xfrm>
          <a:prstGeom prst="roundRect">
            <a:avLst>
              <a:gd name="adj" fmla="val 22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7540" y="1084421"/>
            <a:ext cx="183191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已实现的产业化应用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572250" y="1524000"/>
            <a:ext cx="1095375" cy="762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2"/>
          <a:srcRect l="0" t="27333" r="0" b="27333"/>
          <a:stretch>
            <a:fillRect/>
          </a:stretch>
        </p:blipFill>
        <p:spPr>
          <a:xfrm>
            <a:off x="6619875" y="1571625"/>
            <a:ext cx="1000125" cy="66675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805612" y="2347912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智能手机芯片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58125" y="1524000"/>
            <a:ext cx="1095375" cy="762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3"/>
          <a:srcRect l="0" t="12121" r="0" b="12121"/>
          <a:stretch>
            <a:fillRect/>
          </a:stretch>
        </p:blipFill>
        <p:spPr>
          <a:xfrm>
            <a:off x="7905750" y="1571625"/>
            <a:ext cx="1000125" cy="6667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141494" y="2347912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汽车轻量化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0" y="1524000"/>
            <a:ext cx="1095375" cy="762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4"/>
          <a:srcRect l="0" t="24667" r="0" b="24667"/>
          <a:stretch>
            <a:fillRect/>
          </a:stretch>
        </p:blipFill>
        <p:spPr>
          <a:xfrm>
            <a:off x="9191625" y="1571625"/>
            <a:ext cx="1000125" cy="6667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9427369" y="2347912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自清洁涂层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429875" y="1524000"/>
            <a:ext cx="1000125" cy="762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5"/>
          <a:srcRect l="0" t="1945" r="0" b="1945"/>
          <a:stretch>
            <a:fillRect/>
          </a:stretch>
        </p:blipFill>
        <p:spPr>
          <a:xfrm>
            <a:off x="10477500" y="1571625"/>
            <a:ext cx="904875" cy="6667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0615612" y="2347912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防臭抗菌面料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714750"/>
            <a:ext cx="11049000" cy="2571750"/>
          </a:xfrm>
          <a:prstGeom prst="roundRect">
            <a:avLst>
              <a:gd name="adj" fmla="val 2222"/>
            </a:avLst>
          </a:prstGeom>
          <a:solidFill>
            <a:srgbClr val="131926"/>
          </a:solidFill>
          <a:ln>
            <a:noFill/>
          </a:ln>
        </p:spPr>
      </p:sp>
      <p:pic>
        <p:nvPicPr>
          <p:cNvPr id="31" name="Image 31"/>
          <p:cNvPicPr>
            <a:picLocks noChangeAspect="1"/>
          </p:cNvPicPr>
          <p:nvPr/>
        </p:nvPicPr>
        <p:blipFill>
          <a:blip r:embed="rId6"/>
          <a:srcRect l="0" t="8933" r="0" b="8933"/>
          <a:stretch>
            <a:fillRect/>
          </a:stretch>
        </p:blipFill>
        <p:spPr>
          <a:xfrm>
            <a:off x="952500" y="4000500"/>
            <a:ext cx="4762500" cy="20955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172200" y="4124325"/>
            <a:ext cx="40601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纳米技术 = 在材料本征尺度上重新定义性能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76962" y="4641056"/>
            <a:ext cx="41015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宏观世界中相互矛盾的材料属性 — 强度与韧性、导电与隔热、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76962" y="4926806"/>
            <a:ext cx="35015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硬度与弹性 — 在纳米尺度下可以实现统一与协同优化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178868" y="5419249"/>
            <a:ext cx="40552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它是凝聚态物理、量子力学、微纳米力学和材料科学深度交叉的制高点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未来三大颠覆性领域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469879" y="965835"/>
            <a:ext cx="1727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医疗领域的"精准革命"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476375"/>
            <a:ext cx="3143250" cy="2190750"/>
          </a:xfrm>
          <a:prstGeom prst="roundRect">
            <a:avLst>
              <a:gd name="adj" fmla="val 1739"/>
            </a:avLst>
          </a:prstGeom>
          <a:solidFill>
            <a:srgbClr val="0D1A2E"/>
          </a:solidFill>
          <a:ln>
            <a:noFill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rcRect l="0" t="33871" r="0" b="33871"/>
          <a:stretch>
            <a:fillRect/>
          </a:stretch>
        </p:blipFill>
        <p:spPr>
          <a:xfrm>
            <a:off x="857250" y="1571625"/>
            <a:ext cx="2952750" cy="952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92492" y="26569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智能靶向给药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3445" y="29032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识别特定癌细胞标志物，实现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3445" y="3093720"/>
            <a:ext cx="1114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"零副作用"治愈癌症</a:t>
            </a:r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3"/>
          <a:srcRect l="11905" t="0" r="11905" b="0"/>
          <a:stretch>
            <a:fillRect/>
          </a:stretch>
        </p:blipFill>
        <p:spPr>
          <a:xfrm>
            <a:off x="857250" y="2714625"/>
            <a:ext cx="142875" cy="142875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762000" y="3810000"/>
            <a:ext cx="3143250" cy="857250"/>
          </a:xfrm>
          <a:prstGeom prst="roundRect">
            <a:avLst>
              <a:gd name="adj" fmla="val 4444"/>
            </a:avLst>
          </a:prstGeom>
          <a:solidFill>
            <a:srgbClr val="0D1A2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0118" y="39904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体内实时监测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070" y="42367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纳米传感器网络在疾病发生前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070" y="44272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数月甚至数秒内发出预警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857750"/>
            <a:ext cx="3143250" cy="857250"/>
          </a:xfrm>
          <a:prstGeom prst="roundRect">
            <a:avLst>
              <a:gd name="adj" fmla="val 4444"/>
            </a:avLst>
          </a:prstGeom>
          <a:solidFill>
            <a:srgbClr val="0D1A2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0118" y="5038249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人工器官与组织工程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" y="5284470"/>
            <a:ext cx="1475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纳米级3D打印完美模拟人体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1070" y="547497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细胞外基质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33875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333875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333875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48243" y="965835"/>
            <a:ext cx="18955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能源与环境的"绿色解药"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24375" y="1476375"/>
            <a:ext cx="3143250" cy="2190750"/>
          </a:xfrm>
          <a:prstGeom prst="roundRect">
            <a:avLst>
              <a:gd name="adj" fmla="val 1739"/>
            </a:avLst>
          </a:prstGeom>
          <a:solidFill>
            <a:srgbClr val="0D1A2E"/>
          </a:solidFill>
          <a:ln>
            <a:noFill/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4"/>
          <a:srcRect l="0" t="31672" r="0" b="31672"/>
          <a:stretch>
            <a:fillRect/>
          </a:stretch>
        </p:blipFill>
        <p:spPr>
          <a:xfrm>
            <a:off x="4619625" y="1571625"/>
            <a:ext cx="2952750" cy="9525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4654868" y="265699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下一代高效能源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55820" y="29032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太阳能电池光电转换效率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55820" y="30937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突破现有极限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24375" y="3810000"/>
            <a:ext cx="3143250" cy="857250"/>
          </a:xfrm>
          <a:prstGeom prst="roundRect">
            <a:avLst>
              <a:gd name="adj" fmla="val 4444"/>
            </a:avLst>
          </a:prstGeom>
          <a:solidFill>
            <a:srgbClr val="0D1A2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02492" y="399049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分子级环境治理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03445" y="42367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纳米催化剂分解塑料微粒、吸附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03445" y="4427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重金属、捕集二氧化碳</a:t>
            </a:r>
          </a:p>
        </p:txBody>
      </p:sp>
      <p:pic>
        <p:nvPicPr>
          <p:cNvPr id="37" name="Image 37"/>
          <p:cNvPicPr>
            <a:picLocks noChangeAspect="1"/>
          </p:cNvPicPr>
          <p:nvPr/>
        </p:nvPicPr>
        <p:blipFill>
          <a:blip r:embed="rId5"/>
          <a:srcRect l="0" t="25887" r="0" b="25887"/>
          <a:stretch>
            <a:fillRect/>
          </a:stretch>
        </p:blipFill>
        <p:spPr>
          <a:xfrm>
            <a:off x="4619625" y="4857750"/>
            <a:ext cx="2952750" cy="1238250"/>
          </a:xfrm>
          <a:prstGeom prst="rect">
            <a:avLst/>
          </a:prstGeom>
        </p:spPr>
      </p:pic>
      <p:sp>
        <p:nvSpPr>
          <p:cNvPr id="38" name="Rectangle 38"/>
          <p:cNvSpPr/>
          <p:nvPr/>
        </p:nvSpPr>
        <p:spPr>
          <a:xfrm>
            <a:off x="8096250" y="857250"/>
            <a:ext cx="3524250" cy="5524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096250" y="857250"/>
            <a:ext cx="3524250" cy="381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096250" y="1047750"/>
            <a:ext cx="3524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87040" y="965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信息技术与人机融合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286750" y="1476375"/>
            <a:ext cx="3143250" cy="2190750"/>
          </a:xfrm>
          <a:prstGeom prst="roundRect">
            <a:avLst>
              <a:gd name="adj" fmla="val 1739"/>
            </a:avLst>
          </a:prstGeom>
          <a:solidFill>
            <a:srgbClr val="0D1A2E"/>
          </a:solidFill>
          <a:ln>
            <a:noFill/>
          </a:ln>
        </p:spPr>
      </p:sp>
      <p:pic>
        <p:nvPicPr>
          <p:cNvPr id="43" name="Image 43"/>
          <p:cNvPicPr>
            <a:picLocks noChangeAspect="1"/>
          </p:cNvPicPr>
          <p:nvPr/>
        </p:nvPicPr>
        <p:blipFill>
          <a:blip r:embed="rId6"/>
          <a:srcRect l="0" t="32468" r="0" b="32468"/>
          <a:stretch>
            <a:fillRect/>
          </a:stretch>
        </p:blipFill>
        <p:spPr>
          <a:xfrm>
            <a:off x="8382000" y="1571625"/>
            <a:ext cx="2952750" cy="9525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8417242" y="26569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超越摩尔定律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18195" y="29032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基于二维纳米材料的光子芯片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18195" y="309372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或量子芯片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286750" y="3810000"/>
            <a:ext cx="3143250" cy="857250"/>
          </a:xfrm>
          <a:prstGeom prst="roundRect">
            <a:avLst>
              <a:gd name="adj" fmla="val 4444"/>
            </a:avLst>
          </a:prstGeom>
          <a:solidFill>
            <a:srgbClr val="0D1A2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464868" y="39904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微观脑机接口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65820" y="42367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纳米电极穿过血脑屏障，实现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65820" y="4427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高分辨率神经信号读写</a:t>
            </a:r>
          </a:p>
        </p:txBody>
      </p:sp>
      <p:pic>
        <p:nvPicPr>
          <p:cNvPr id="51" name="Image 51"/>
          <p:cNvPicPr>
            <a:picLocks noChangeAspect="1"/>
          </p:cNvPicPr>
          <p:nvPr/>
        </p:nvPicPr>
        <p:blipFill>
          <a:blip r:embed="rId7"/>
          <a:srcRect l="0" t="11290" r="0" b="11290"/>
          <a:stretch>
            <a:fillRect/>
          </a:stretch>
        </p:blipFill>
        <p:spPr>
          <a:xfrm>
            <a:off x="8382000" y="4857750"/>
            <a:ext cx="2952750" cy="123825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" name="Rectangle 5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313373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深度思考：风险与治理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66750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3524250" cy="4000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5242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38433" y="10925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科学层面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56162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微观完美与宏观脆弱的平衡：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7242" y="17997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实验室表现惊艳，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7242" y="203787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复杂现实中易失效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7242" y="24664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长期稳定性与高性价比量产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7242" y="27046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是必须跨越的鸿沟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rcRect l="0" t="27922" r="0" b="27922"/>
          <a:stretch>
            <a:fillRect/>
          </a:stretch>
        </p:blipFill>
        <p:spPr>
          <a:xfrm>
            <a:off x="809625" y="3048000"/>
            <a:ext cx="3143250" cy="1619250"/>
          </a:xfrm>
          <a:prstGeom prst="rect">
            <a:avLst/>
          </a:prstGeom>
        </p:spPr>
      </p:pic>
      <p:sp>
        <p:nvSpPr>
          <p:cNvPr id="15" name="Rectangle 15"/>
          <p:cNvSpPr/>
          <p:nvPr/>
        </p:nvSpPr>
        <p:spPr>
          <a:xfrm>
            <a:off x="4333875" y="857250"/>
            <a:ext cx="3524250" cy="4000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33875" y="857250"/>
            <a:ext cx="35242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17272" y="1092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环境与健康层面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9618" y="15616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纳米毒理学缺失：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9618" y="17997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对新型纳米颗粒在自然界循环、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9618" y="20378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食物链富集、人体内长期滞留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9618" y="22759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的毒理机制知之甚少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9618" y="270462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新型环境污染：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9618" y="2942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纳米产品普及可能对微观生态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618" y="31808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系统造成难以逆转的破坏</a:t>
            </a:r>
          </a:p>
        </p:txBody>
      </p:sp>
      <p:pic>
        <p:nvPicPr>
          <p:cNvPr id="25" name="Image 25"/>
          <p:cNvPicPr>
            <a:picLocks noChangeAspect="1"/>
          </p:cNvPicPr>
          <p:nvPr/>
        </p:nvPicPr>
        <p:blipFill>
          <a:blip r:embed="rId3"/>
          <a:srcRect l="0" t="31250" r="0" b="31250"/>
          <a:stretch>
            <a:fillRect/>
          </a:stretch>
        </p:blipFill>
        <p:spPr>
          <a:xfrm>
            <a:off x="4572000" y="3524250"/>
            <a:ext cx="3048000" cy="1143000"/>
          </a:xfrm>
          <a:prstGeom prst="rect">
            <a:avLst/>
          </a:prstGeom>
        </p:spPr>
      </p:pic>
      <p:sp>
        <p:nvSpPr>
          <p:cNvPr id="26" name="Rectangle 26"/>
          <p:cNvSpPr/>
          <p:nvPr/>
        </p:nvSpPr>
        <p:spPr>
          <a:xfrm>
            <a:off x="8096250" y="857250"/>
            <a:ext cx="3524250" cy="400050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096250" y="857250"/>
            <a:ext cx="35242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179647" y="1092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社会与伦理层面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1992" y="1561624"/>
            <a:ext cx="10778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技术"平权"问题：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21992" y="1799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纳米医疗可能固化阶级鸿沟，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21992" y="2037874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导致"超人类"与普通人的分裂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1992" y="24664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安全与武器化风险：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21992" y="270462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纳米技术用于制造隐蔽性极强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1992" y="2942749"/>
            <a:ext cx="1006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的生物/化学武器</a:t>
            </a:r>
          </a:p>
        </p:txBody>
      </p:sp>
      <p:pic>
        <p:nvPicPr>
          <p:cNvPr id="35" name="Image 35"/>
          <p:cNvPicPr>
            <a:picLocks noChangeAspect="1"/>
          </p:cNvPicPr>
          <p:nvPr/>
        </p:nvPicPr>
        <p:blipFill>
          <a:blip r:embed="rId4"/>
          <a:srcRect l="0" t="21949" r="0" b="21949"/>
          <a:stretch>
            <a:fillRect/>
          </a:stretch>
        </p:blipFill>
        <p:spPr>
          <a:xfrm>
            <a:off x="8382000" y="3286125"/>
            <a:ext cx="3048000" cy="1381125"/>
          </a:xfrm>
          <a:prstGeom prst="rect">
            <a:avLst/>
          </a:prstGeom>
        </p:spPr>
      </p:pic>
      <p:sp>
        <p:nvSpPr>
          <p:cNvPr id="36" name="Rectangle 36"/>
          <p:cNvSpPr/>
          <p:nvPr/>
        </p:nvSpPr>
        <p:spPr>
          <a:xfrm>
            <a:off x="571500" y="5143500"/>
            <a:ext cx="11049000" cy="1238250"/>
          </a:xfrm>
          <a:prstGeom prst="roundRect">
            <a:avLst>
              <a:gd name="adj" fmla="val 4615"/>
            </a:avLst>
          </a:prstGeom>
          <a:solidFill>
            <a:srgbClr val="0D1A2E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71500" y="514350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6308" y="538686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发展路径建议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5744528"/>
            <a:ext cx="56483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❶ 同步建立严密的纳米安全红线 ❷ 完善纳米毒理学基础研究 ❸ 出台全球统一的伦理监管框架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238500" y="2762250"/>
            <a:ext cx="5715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601880" y="2975610"/>
            <a:ext cx="298824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Rectangle 5"/>
          <p:cNvSpPr/>
          <p:nvPr/>
        </p:nvSpPr>
        <p:spPr>
          <a:xfrm>
            <a:off x="3238500" y="4095750"/>
            <a:ext cx="5715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68419" y="467963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感谢聆听 · 欢迎指正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3B82F6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2026-06-19T15:18:24Z</dcterms:created>
  <dcterms:modified xsi:type="dcterms:W3CDTF">2026-06-19T15:18:24Z</dcterms:modified>
  <cp:category/>
  <cp:contentStatus/>
</cp:coreProperties>
</file>